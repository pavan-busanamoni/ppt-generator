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2F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88A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PRESENTATION PLANNER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09600" y="242316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Quantum Computing &amp; Cryptography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609600" y="3794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B9D8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Strategic Analysis &amp; Future Roadmap • Prepared for Medical Professionals &amp; AI Researchers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09600" y="4800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5266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Systems Architect  ·  2026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09600" y="6324600"/>
            <a:ext cx="10972800" cy="0"/>
          </a:xfrm>
          <a:prstGeom prst="line">
            <a:avLst/>
          </a:prstGeom>
          <a:noFill/>
          <a:ln w="12700">
            <a:solidFill>
              <a:srgbClr val="134E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9600" y="6397752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B9D8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Quantum Computing &amp; Cryptography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90560" y="639775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B9D8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/ 8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3815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600" y="785622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073B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Quantum Computing &amp; Cryptography Roadmap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09600" y="1562862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5266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domains and strategic pillars.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09600" y="2011680"/>
            <a:ext cx="3474720" cy="3840480"/>
          </a:xfrm>
          <a:prstGeom prst="roundRect">
            <a:avLst>
              <a:gd name="adj" fmla="val 3289"/>
            </a:avLst>
          </a:prstGeom>
          <a:solidFill>
            <a:srgbClr val="FFFFFF"/>
          </a:solidFill>
          <a:ln w="12700">
            <a:solidFill>
              <a:srgbClr val="B9D8D4"/>
            </a:solidFill>
            <a:prstDash val="solid"/>
          </a:ln>
          <a:effectLst>
            <a:outerShdw sx="100000" sy="100000" kx="0" ky="0" algn="bl" rotWithShape="0" blurRad="101600" dist="38100" dir="16200000">
              <a:srgbClr val="073B3A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62000" y="2164080"/>
            <a:ext cx="502920" cy="502920"/>
          </a:xfrm>
          <a:prstGeom prst="ellipse">
            <a:avLst/>
          </a:prstGeom>
          <a:solidFill>
            <a:srgbClr val="EFFBF5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75157" y="2277237"/>
            <a:ext cx="276606" cy="27660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62000" y="2758440"/>
            <a:ext cx="3169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73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Foundational Concepts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762000" y="3261360"/>
            <a:ext cx="3169920" cy="2438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5266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operational principles governing Quantum Computing &amp; Cryptography.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4358640" y="2011680"/>
            <a:ext cx="3474720" cy="3840480"/>
          </a:xfrm>
          <a:prstGeom prst="roundRect">
            <a:avLst>
              <a:gd name="adj" fmla="val 3289"/>
            </a:avLst>
          </a:prstGeom>
          <a:solidFill>
            <a:srgbClr val="FFFFFF"/>
          </a:solidFill>
          <a:ln w="12700">
            <a:solidFill>
              <a:srgbClr val="B9D8D4"/>
            </a:solidFill>
            <a:prstDash val="solid"/>
          </a:ln>
          <a:effectLst>
            <a:outerShdw sx="100000" sy="100000" kx="0" ky="0" algn="bl" rotWithShape="0" blurRad="101600" dist="38100" dir="16200000">
              <a:srgbClr val="073B3A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11040" y="2164080"/>
            <a:ext cx="502920" cy="502920"/>
          </a:xfrm>
          <a:prstGeom prst="ellipse">
            <a:avLst/>
          </a:prstGeom>
          <a:solidFill>
            <a:srgbClr val="EFFBF5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24197" y="2277237"/>
            <a:ext cx="276606" cy="27660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11040" y="2758440"/>
            <a:ext cx="3169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73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Performance Metrics</a:t>
            </a:r>
            <a:endParaRPr lang="en-US" sz="2300" dirty="0"/>
          </a:p>
        </p:txBody>
      </p:sp>
      <p:sp>
        <p:nvSpPr>
          <p:cNvPr id="14" name="Text 10"/>
          <p:cNvSpPr/>
          <p:nvPr/>
        </p:nvSpPr>
        <p:spPr>
          <a:xfrm>
            <a:off x="4511040" y="3261360"/>
            <a:ext cx="3169920" cy="2438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5266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Quantitative benchmarks and empirical results.</a:t>
            </a:r>
            <a:endParaRPr lang="en-US" sz="1700" dirty="0"/>
          </a:p>
        </p:txBody>
      </p:sp>
      <p:sp>
        <p:nvSpPr>
          <p:cNvPr id="15" name="Shape 11"/>
          <p:cNvSpPr/>
          <p:nvPr/>
        </p:nvSpPr>
        <p:spPr>
          <a:xfrm>
            <a:off x="8107680" y="2011680"/>
            <a:ext cx="3474720" cy="3840480"/>
          </a:xfrm>
          <a:prstGeom prst="roundRect">
            <a:avLst>
              <a:gd name="adj" fmla="val 3289"/>
            </a:avLst>
          </a:prstGeom>
          <a:solidFill>
            <a:srgbClr val="FFFFFF"/>
          </a:solidFill>
          <a:ln w="12700">
            <a:solidFill>
              <a:srgbClr val="B9D8D4"/>
            </a:solidFill>
            <a:prstDash val="solid"/>
          </a:ln>
          <a:effectLst>
            <a:outerShdw sx="100000" sy="100000" kx="0" ky="0" algn="bl" rotWithShape="0" blurRad="101600" dist="38100" dir="16200000">
              <a:srgbClr val="073B3A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260080" y="2164080"/>
            <a:ext cx="502920" cy="502920"/>
          </a:xfrm>
          <a:prstGeom prst="ellipse">
            <a:avLst/>
          </a:prstGeom>
          <a:solidFill>
            <a:srgbClr val="EFFBF5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73237" y="2277237"/>
            <a:ext cx="276606" cy="27660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260080" y="2758440"/>
            <a:ext cx="3169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73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Implementation Strategy</a:t>
            </a:r>
            <a:endParaRPr lang="en-US" sz="2300" dirty="0"/>
          </a:p>
        </p:txBody>
      </p:sp>
      <p:sp>
        <p:nvSpPr>
          <p:cNvPr id="19" name="Text 14"/>
          <p:cNvSpPr/>
          <p:nvPr/>
        </p:nvSpPr>
        <p:spPr>
          <a:xfrm>
            <a:off x="8260080" y="3261360"/>
            <a:ext cx="3169920" cy="2438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5266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Phased deployment and risk mitigation.</a:t>
            </a:r>
            <a:endParaRPr lang="en-US" sz="1700" dirty="0"/>
          </a:p>
        </p:txBody>
      </p:sp>
      <p:sp>
        <p:nvSpPr>
          <p:cNvPr id="20" name="Shape 15"/>
          <p:cNvSpPr/>
          <p:nvPr/>
        </p:nvSpPr>
        <p:spPr>
          <a:xfrm>
            <a:off x="609600" y="6324600"/>
            <a:ext cx="10972800" cy="0"/>
          </a:xfrm>
          <a:prstGeom prst="line">
            <a:avLst/>
          </a:prstGeom>
          <a:noFill/>
          <a:ln w="12700">
            <a:solidFill>
              <a:srgbClr val="B9D8D4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609600" y="6397752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266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Quantum Computing &amp; Cryptography Roadmap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8290560" y="639775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5266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/ 8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3815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PARADIGM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600" y="785622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073B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Architectural Principles of Quantum Computing &amp; Cryptography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09600" y="1562862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5266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Fundamental mechanism driving efficiency.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09600" y="2011680"/>
            <a:ext cx="4608576" cy="3931920"/>
          </a:xfrm>
          <a:prstGeom prst="roundRect">
            <a:avLst>
              <a:gd name="adj" fmla="val 2907"/>
            </a:avLst>
          </a:prstGeom>
          <a:solidFill>
            <a:srgbClr val="EFFBF5"/>
          </a:solidFill>
          <a:ln w="12700">
            <a:solidFill>
              <a:srgbClr val="B9D8D4"/>
            </a:solidFill>
            <a:prstDash val="solid"/>
          </a:ln>
          <a:effectLst>
            <a:outerShdw sx="100000" sy="100000" kx="0" ky="0" algn="bl" rotWithShape="0" blurRad="101600" dist="38100" dir="16200000">
              <a:srgbClr val="073B3A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62000" y="2164080"/>
            <a:ext cx="502920" cy="502920"/>
          </a:xfrm>
          <a:prstGeom prst="ellipse">
            <a:avLst/>
          </a:prstGeom>
          <a:solidFill>
            <a:srgbClr val="EFFBF5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75157" y="2277237"/>
            <a:ext cx="276606" cy="27660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62000" y="2758440"/>
            <a:ext cx="430377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73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Operating Mechanism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762000" y="3261360"/>
            <a:ext cx="4303776" cy="2529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5266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core architecture leverages integrated domain models to optimize throughput and resource efficiency in Quantum Computing &amp; Cryptography.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5657088" y="2011680"/>
            <a:ext cx="5925312" cy="1874520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B9D8D4"/>
            </a:solidFill>
            <a:prstDash val="solid"/>
          </a:ln>
          <a:effectLst>
            <a:outerShdw sx="100000" sy="100000" kx="0" ky="0" algn="bl" rotWithShape="0" blurRad="101600" dist="38100" dir="16200000">
              <a:srgbClr val="073B3A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809488" y="2164080"/>
            <a:ext cx="502920" cy="502920"/>
          </a:xfrm>
          <a:prstGeom prst="ellipse">
            <a:avLst/>
          </a:prstGeom>
          <a:solidFill>
            <a:srgbClr val="EFFBF5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22645" y="2277237"/>
            <a:ext cx="276606" cy="27660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809488" y="2758440"/>
            <a:ext cx="56205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73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Scalable Processing</a:t>
            </a:r>
            <a:endParaRPr lang="en-US" sz="2300" dirty="0"/>
          </a:p>
        </p:txBody>
      </p:sp>
      <p:sp>
        <p:nvSpPr>
          <p:cNvPr id="14" name="Text 10"/>
          <p:cNvSpPr/>
          <p:nvPr/>
        </p:nvSpPr>
        <p:spPr>
          <a:xfrm>
            <a:off x="5809488" y="3261360"/>
            <a:ext cx="5620512" cy="472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5266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Optimized execution pipelines deliver high throughput with minimal overhead.</a:t>
            </a:r>
            <a:endParaRPr lang="en-US" sz="1700" dirty="0"/>
          </a:p>
        </p:txBody>
      </p:sp>
      <p:sp>
        <p:nvSpPr>
          <p:cNvPr id="15" name="Shape 11"/>
          <p:cNvSpPr/>
          <p:nvPr/>
        </p:nvSpPr>
        <p:spPr>
          <a:xfrm>
            <a:off x="5657088" y="4069080"/>
            <a:ext cx="5925312" cy="1874520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B9D8D4"/>
            </a:solidFill>
            <a:prstDash val="solid"/>
          </a:ln>
          <a:effectLst>
            <a:outerShdw sx="100000" sy="100000" kx="0" ky="0" algn="bl" rotWithShape="0" blurRad="101600" dist="38100" dir="16200000">
              <a:srgbClr val="073B3A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809488" y="4221480"/>
            <a:ext cx="502920" cy="502920"/>
          </a:xfrm>
          <a:prstGeom prst="ellipse">
            <a:avLst/>
          </a:prstGeom>
          <a:solidFill>
            <a:srgbClr val="EFFBF5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922645" y="4334637"/>
            <a:ext cx="276606" cy="27660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809488" y="4815840"/>
            <a:ext cx="56205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73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 Reliability</a:t>
            </a:r>
            <a:endParaRPr lang="en-US" sz="2300" dirty="0"/>
          </a:p>
        </p:txBody>
      </p:sp>
      <p:sp>
        <p:nvSpPr>
          <p:cNvPr id="19" name="Text 14"/>
          <p:cNvSpPr/>
          <p:nvPr/>
        </p:nvSpPr>
        <p:spPr>
          <a:xfrm>
            <a:off x="5809488" y="5318760"/>
            <a:ext cx="5620512" cy="472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5266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Built-in fault tolerance and strict validation protocols ensure deterministic outcomes.</a:t>
            </a:r>
            <a:endParaRPr lang="en-US" sz="1700" dirty="0"/>
          </a:p>
        </p:txBody>
      </p:sp>
      <p:sp>
        <p:nvSpPr>
          <p:cNvPr id="20" name="Shape 15"/>
          <p:cNvSpPr/>
          <p:nvPr/>
        </p:nvSpPr>
        <p:spPr>
          <a:xfrm>
            <a:off x="609600" y="6324600"/>
            <a:ext cx="10972800" cy="0"/>
          </a:xfrm>
          <a:prstGeom prst="line">
            <a:avLst/>
          </a:prstGeom>
          <a:noFill/>
          <a:ln w="12700">
            <a:solidFill>
              <a:srgbClr val="B9D8D4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609600" y="6397752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266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Architectural Principles of Quantum Computing &amp; Cryptography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8290560" y="639775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5266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/ 8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3815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BENCHMARK COMPARISON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600" y="785622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073B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Traditional vs Modern Paradigm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09600" y="1562862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5266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Comparing legacy approaches with advanced Quantum Computing &amp; Cryptography strategies.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09600" y="20116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Legacy Approach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609600" y="2468880"/>
            <a:ext cx="5303520" cy="3474720"/>
          </a:xfrm>
          <a:prstGeom prst="roundRect">
            <a:avLst>
              <a:gd name="adj" fmla="val 1645"/>
            </a:avLst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2000" y="2621280"/>
            <a:ext cx="4998720" cy="3169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800" dirty="0">
                <a:solidFill>
                  <a:srgbClr val="073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 manual overhead
</a:t>
            </a:r>
            <a:pPr algn="l" marL="342900" indent="-342900">
              <a:buSzPct val="100000"/>
              <a:buChar char="•"/>
            </a:pPr>
            <a:r>
              <a:rPr lang="en-US" sz="1800" dirty="0">
                <a:solidFill>
                  <a:srgbClr val="073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Slower iteration cycles
</a:t>
            </a:r>
            <a:pPr algn="l" marL="342900" indent="-342900">
              <a:buSzPct val="100000"/>
              <a:buChar char="•"/>
            </a:pPr>
            <a:r>
              <a:rPr lang="en-US" sz="1800" dirty="0">
                <a:solidFill>
                  <a:srgbClr val="073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Static monolithic design
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278880" y="20116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284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Modern Quantum Computing &amp; Cryptography Paradigm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6278880" y="2468880"/>
            <a:ext cx="5303520" cy="3474720"/>
          </a:xfrm>
          <a:prstGeom prst="roundRect">
            <a:avLst>
              <a:gd name="adj" fmla="val 1645"/>
            </a:avLst>
          </a:prstGeom>
          <a:solidFill>
            <a:srgbClr val="FFFFFF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31280" y="2621280"/>
            <a:ext cx="4998720" cy="3169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800" dirty="0">
                <a:solidFill>
                  <a:srgbClr val="073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Automated execution
</a:t>
            </a:r>
            <a:pPr algn="l" marL="342900" indent="-342900">
              <a:buSzPct val="100000"/>
              <a:buChar char="•"/>
            </a:pPr>
            <a:r>
              <a:rPr lang="en-US" sz="1800" dirty="0">
                <a:solidFill>
                  <a:srgbClr val="073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Sub-second processing
</a:t>
            </a:r>
            <a:pPr algn="l" marL="342900" indent="-342900">
              <a:buSzPct val="100000"/>
              <a:buChar char="•"/>
            </a:pPr>
            <a:r>
              <a:rPr lang="en-US" sz="1800" dirty="0">
                <a:solidFill>
                  <a:srgbClr val="073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Modular component-based architecture
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09600" y="6324600"/>
            <a:ext cx="10972800" cy="0"/>
          </a:xfrm>
          <a:prstGeom prst="line">
            <a:avLst/>
          </a:prstGeom>
          <a:noFill/>
          <a:ln w="12700">
            <a:solidFill>
              <a:srgbClr val="B9D8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9600" y="6397752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266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Traditional vs Modern Paradigm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90560" y="639775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5266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/ 8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3815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EMPIRICAL IMPACT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600" y="785622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073B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Performance Indicators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09600" y="1562862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5266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Quantifiable improvements achieved through Quantum Computing &amp; Cryptography.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09600" y="2011680"/>
            <a:ext cx="5349240" cy="1828800"/>
          </a:xfrm>
          <a:prstGeom prst="roundRect">
            <a:avLst>
              <a:gd name="adj" fmla="val 6250"/>
            </a:avLst>
          </a:prstGeom>
          <a:solidFill>
            <a:srgbClr val="EFFBF5"/>
          </a:solidFill>
          <a:ln w="12700">
            <a:solidFill>
              <a:srgbClr val="B9D8D4"/>
            </a:solidFill>
            <a:prstDash val="solid"/>
          </a:ln>
          <a:effectLst>
            <a:outerShdw sx="100000" sy="100000" kx="0" ky="0" algn="bl" rotWithShape="0" blurRad="50800" dist="25400" dir="16200000">
              <a:srgbClr val="073B3A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62000" y="2164080"/>
            <a:ext cx="5044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0F76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10x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762000" y="3032760"/>
            <a:ext cx="5044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73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Speed Advantage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62000" y="3444240"/>
            <a:ext cx="5044440" cy="243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266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Acceleration in processing speed compared to baseline.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33160" y="2011680"/>
            <a:ext cx="5349240" cy="1828800"/>
          </a:xfrm>
          <a:prstGeom prst="roundRect">
            <a:avLst>
              <a:gd name="adj" fmla="val 6250"/>
            </a:avLst>
          </a:prstGeom>
          <a:solidFill>
            <a:srgbClr val="EFFBF5"/>
          </a:solidFill>
          <a:ln w="12700">
            <a:solidFill>
              <a:srgbClr val="B9D8D4"/>
            </a:solidFill>
            <a:prstDash val="solid"/>
          </a:ln>
          <a:effectLst>
            <a:outerShdw sx="100000" sy="100000" kx="0" ky="0" algn="bl" rotWithShape="0" blurRad="50800" dist="25400" dir="16200000">
              <a:srgbClr val="073B3A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385560" y="2164080"/>
            <a:ext cx="5044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0284C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99.9%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6385560" y="3032760"/>
            <a:ext cx="5044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73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 Reliability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6385560" y="3444240"/>
            <a:ext cx="5044440" cy="243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266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Uptime and deterministic accuracy on standard benchmarks.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9600" y="4069080"/>
            <a:ext cx="5349240" cy="1828800"/>
          </a:xfrm>
          <a:prstGeom prst="roundRect">
            <a:avLst>
              <a:gd name="adj" fmla="val 6250"/>
            </a:avLst>
          </a:prstGeom>
          <a:solidFill>
            <a:srgbClr val="EFFBF5"/>
          </a:solidFill>
          <a:ln w="12700">
            <a:solidFill>
              <a:srgbClr val="B9D8D4"/>
            </a:solidFill>
            <a:prstDash val="solid"/>
          </a:ln>
          <a:effectLst>
            <a:outerShdw sx="100000" sy="100000" kx="0" ky="0" algn="bl" rotWithShape="0" blurRad="50800" dist="25400" dir="16200000">
              <a:srgbClr val="073B3A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62000" y="4221480"/>
            <a:ext cx="5044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C88A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65%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762000" y="5090160"/>
            <a:ext cx="5044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73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 Reduction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762000" y="5501640"/>
            <a:ext cx="5044440" cy="243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266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Lower operational resource strain and compute overhead.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09600" y="6324600"/>
            <a:ext cx="10972800" cy="0"/>
          </a:xfrm>
          <a:prstGeom prst="line">
            <a:avLst/>
          </a:prstGeom>
          <a:noFill/>
          <a:ln w="12700">
            <a:solidFill>
              <a:srgbClr val="B9D8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9600" y="6397752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266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Performance Indicators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90560" y="639775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5266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/ 8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3815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DEPLOYMENT PIPELINE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600" y="785622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073B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Implementation Workflow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09600" y="1562862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5266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Sequential phases for deployment.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09600" y="2011680"/>
            <a:ext cx="3505200" cy="3931920"/>
          </a:xfrm>
          <a:prstGeom prst="roundRect">
            <a:avLst>
              <a:gd name="adj" fmla="val 3261"/>
            </a:avLst>
          </a:prstGeom>
          <a:solidFill>
            <a:srgbClr val="EFFBF5"/>
          </a:solidFill>
          <a:ln w="12700">
            <a:solidFill>
              <a:srgbClr val="B9D8D4"/>
            </a:solidFill>
            <a:prstDash val="solid"/>
          </a:ln>
          <a:effectLst>
            <a:outerShdw sx="100000" sy="100000" kx="0" ky="0" algn="bl" rotWithShape="0" blurRad="101600" dist="38100" dir="16200000">
              <a:srgbClr val="073B3A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62000" y="2164080"/>
            <a:ext cx="502920" cy="502920"/>
          </a:xfrm>
          <a:prstGeom prst="ellipse">
            <a:avLst/>
          </a:prstGeom>
          <a:solidFill>
            <a:srgbClr val="EFFBF5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75157" y="2277237"/>
            <a:ext cx="276606" cy="27660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62000" y="27584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73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1: Requirement Analysis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762000" y="3261360"/>
            <a:ext cx="3200400" cy="2529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5266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 scope, constraints, and target outcomes.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4343400" y="2011680"/>
            <a:ext cx="3505200" cy="3931920"/>
          </a:xfrm>
          <a:prstGeom prst="roundRect">
            <a:avLst>
              <a:gd name="adj" fmla="val 3261"/>
            </a:avLst>
          </a:prstGeom>
          <a:solidFill>
            <a:srgbClr val="EAF6FF"/>
          </a:solidFill>
          <a:ln w="12700">
            <a:solidFill>
              <a:srgbClr val="B9D8D4"/>
            </a:solidFill>
            <a:prstDash val="solid"/>
          </a:ln>
          <a:effectLst>
            <a:outerShdw sx="100000" sy="100000" kx="0" ky="0" algn="bl" rotWithShape="0" blurRad="101600" dist="38100" dir="16200000">
              <a:srgbClr val="073B3A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495800" y="2164080"/>
            <a:ext cx="502920" cy="502920"/>
          </a:xfrm>
          <a:prstGeom prst="ellipse">
            <a:avLst/>
          </a:prstGeom>
          <a:solidFill>
            <a:srgbClr val="EFFBF5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08957" y="2277237"/>
            <a:ext cx="276606" cy="27660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495800" y="27584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73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2: Architecture Setup</a:t>
            </a:r>
            <a:endParaRPr lang="en-US" sz="2300" dirty="0"/>
          </a:p>
        </p:txBody>
      </p:sp>
      <p:sp>
        <p:nvSpPr>
          <p:cNvPr id="14" name="Text 10"/>
          <p:cNvSpPr/>
          <p:nvPr/>
        </p:nvSpPr>
        <p:spPr>
          <a:xfrm>
            <a:off x="4495800" y="3261360"/>
            <a:ext cx="3200400" cy="2529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5266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Initialize core design tokens and components.</a:t>
            </a:r>
            <a:endParaRPr lang="en-US" sz="1700" dirty="0"/>
          </a:p>
        </p:txBody>
      </p:sp>
      <p:sp>
        <p:nvSpPr>
          <p:cNvPr id="15" name="Shape 11"/>
          <p:cNvSpPr/>
          <p:nvPr/>
        </p:nvSpPr>
        <p:spPr>
          <a:xfrm>
            <a:off x="8077200" y="2011680"/>
            <a:ext cx="3505200" cy="3931920"/>
          </a:xfrm>
          <a:prstGeom prst="roundRect">
            <a:avLst>
              <a:gd name="adj" fmla="val 3261"/>
            </a:avLst>
          </a:prstGeom>
          <a:solidFill>
            <a:srgbClr val="EFFBF5"/>
          </a:solidFill>
          <a:ln w="12700">
            <a:solidFill>
              <a:srgbClr val="B9D8D4"/>
            </a:solidFill>
            <a:prstDash val="solid"/>
          </a:ln>
          <a:effectLst>
            <a:outerShdw sx="100000" sy="100000" kx="0" ky="0" algn="bl" rotWithShape="0" blurRad="101600" dist="38100" dir="16200000">
              <a:srgbClr val="073B3A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229600" y="2164080"/>
            <a:ext cx="502920" cy="502920"/>
          </a:xfrm>
          <a:prstGeom prst="ellipse">
            <a:avLst/>
          </a:prstGeom>
          <a:solidFill>
            <a:srgbClr val="EFFBF5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42757" y="2277237"/>
            <a:ext cx="276606" cy="27660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229600" y="27584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73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3: Validation &amp; Export</a:t>
            </a:r>
            <a:endParaRPr lang="en-US" sz="2300" dirty="0"/>
          </a:p>
        </p:txBody>
      </p:sp>
      <p:sp>
        <p:nvSpPr>
          <p:cNvPr id="19" name="Text 14"/>
          <p:cNvSpPr/>
          <p:nvPr/>
        </p:nvSpPr>
        <p:spPr>
          <a:xfrm>
            <a:off x="8229600" y="3261360"/>
            <a:ext cx="3200400" cy="2529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5266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Inspect bounds, test layouts, and export outputs.</a:t>
            </a:r>
            <a:endParaRPr lang="en-US" sz="1700" dirty="0"/>
          </a:p>
        </p:txBody>
      </p:sp>
      <p:sp>
        <p:nvSpPr>
          <p:cNvPr id="20" name="Shape 15"/>
          <p:cNvSpPr/>
          <p:nvPr/>
        </p:nvSpPr>
        <p:spPr>
          <a:xfrm>
            <a:off x="609600" y="6324600"/>
            <a:ext cx="10972800" cy="0"/>
          </a:xfrm>
          <a:prstGeom prst="line">
            <a:avLst/>
          </a:prstGeom>
          <a:noFill/>
          <a:ln w="12700">
            <a:solidFill>
              <a:srgbClr val="B9D8D4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609600" y="6397752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266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Implementation Workflow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8290560" y="639775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5266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/ 8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3815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TAKEAWAYS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600" y="785622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073B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Strategic Takeaways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09600" y="1562862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5266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findings and guidelines for Quantum Computing &amp; Cryptography.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09600" y="2011680"/>
            <a:ext cx="5349240" cy="1851660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B9D8D4"/>
            </a:solidFill>
            <a:prstDash val="solid"/>
          </a:ln>
          <a:effectLst>
            <a:outerShdw sx="100000" sy="100000" kx="0" ky="0" algn="bl" rotWithShape="0" blurRad="101600" dist="38100" dir="16200000">
              <a:srgbClr val="073B3A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62000" y="2164080"/>
            <a:ext cx="502920" cy="502920"/>
          </a:xfrm>
          <a:prstGeom prst="ellipse">
            <a:avLst/>
          </a:prstGeom>
          <a:solidFill>
            <a:srgbClr val="EFFBF5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75157" y="2277237"/>
            <a:ext cx="276606" cy="27660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62000" y="2758440"/>
            <a:ext cx="5044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73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Prioritize Architecture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762000" y="3261360"/>
            <a:ext cx="5044440" cy="4495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5266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Invest in clean, component-driven modular systems.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6233160" y="2011680"/>
            <a:ext cx="5349240" cy="1851660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B9D8D4"/>
            </a:solidFill>
            <a:prstDash val="solid"/>
          </a:ln>
          <a:effectLst>
            <a:outerShdw sx="100000" sy="100000" kx="0" ky="0" algn="bl" rotWithShape="0" blurRad="101600" dist="38100" dir="16200000">
              <a:srgbClr val="073B3A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385560" y="2164080"/>
            <a:ext cx="502920" cy="502920"/>
          </a:xfrm>
          <a:prstGeom prst="ellipse">
            <a:avLst/>
          </a:prstGeom>
          <a:solidFill>
            <a:srgbClr val="EFFBF5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98717" y="2277237"/>
            <a:ext cx="276606" cy="27660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385560" y="2758440"/>
            <a:ext cx="5044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73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Automate Quality Checks</a:t>
            </a:r>
            <a:endParaRPr lang="en-US" sz="2300" dirty="0"/>
          </a:p>
        </p:txBody>
      </p:sp>
      <p:sp>
        <p:nvSpPr>
          <p:cNvPr id="14" name="Text 10"/>
          <p:cNvSpPr/>
          <p:nvPr/>
        </p:nvSpPr>
        <p:spPr>
          <a:xfrm>
            <a:off x="6385560" y="3261360"/>
            <a:ext cx="5044440" cy="4495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5266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Incorporate programmatic layout inspection into build pipelines.</a:t>
            </a:r>
            <a:endParaRPr lang="en-US" sz="1700" dirty="0"/>
          </a:p>
        </p:txBody>
      </p:sp>
      <p:sp>
        <p:nvSpPr>
          <p:cNvPr id="15" name="Shape 11"/>
          <p:cNvSpPr/>
          <p:nvPr/>
        </p:nvSpPr>
        <p:spPr>
          <a:xfrm>
            <a:off x="609600" y="4091940"/>
            <a:ext cx="5349240" cy="1851660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B9D8D4"/>
            </a:solidFill>
            <a:prstDash val="solid"/>
          </a:ln>
          <a:effectLst>
            <a:outerShdw sx="100000" sy="100000" kx="0" ky="0" algn="bl" rotWithShape="0" blurRad="101600" dist="38100" dir="16200000">
              <a:srgbClr val="073B3A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62000" y="4244340"/>
            <a:ext cx="502920" cy="502920"/>
          </a:xfrm>
          <a:prstGeom prst="ellipse">
            <a:avLst/>
          </a:prstGeom>
          <a:solidFill>
            <a:srgbClr val="EFFBF5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75157" y="4357497"/>
            <a:ext cx="276606" cy="27660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62000" y="4838700"/>
            <a:ext cx="5044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73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Scale Responsibly</a:t>
            </a:r>
            <a:endParaRPr lang="en-US" sz="2300" dirty="0"/>
          </a:p>
        </p:txBody>
      </p:sp>
      <p:sp>
        <p:nvSpPr>
          <p:cNvPr id="19" name="Text 14"/>
          <p:cNvSpPr/>
          <p:nvPr/>
        </p:nvSpPr>
        <p:spPr>
          <a:xfrm>
            <a:off x="762000" y="5341620"/>
            <a:ext cx="5044440" cy="4495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5266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Maintain strict control flow and non-null validation at all layers.</a:t>
            </a:r>
            <a:endParaRPr lang="en-US" sz="1700" dirty="0"/>
          </a:p>
        </p:txBody>
      </p:sp>
      <p:sp>
        <p:nvSpPr>
          <p:cNvPr id="20" name="Shape 15"/>
          <p:cNvSpPr/>
          <p:nvPr/>
        </p:nvSpPr>
        <p:spPr>
          <a:xfrm>
            <a:off x="609600" y="6324600"/>
            <a:ext cx="10972800" cy="0"/>
          </a:xfrm>
          <a:prstGeom prst="line">
            <a:avLst/>
          </a:prstGeom>
          <a:noFill/>
          <a:ln w="12700">
            <a:solidFill>
              <a:srgbClr val="B9D8D4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609600" y="6397752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266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Strategic Takeaways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8290560" y="639775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5266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/ 8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2F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6459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88A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SUMMARY &amp; NEXT STEPS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09600" y="21031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</a:t>
            </a:r>
            <a:endParaRPr lang="en-US" sz="5200" dirty="0"/>
          </a:p>
        </p:txBody>
      </p:sp>
      <p:sp>
        <p:nvSpPr>
          <p:cNvPr id="4" name="Shape 2"/>
          <p:cNvSpPr/>
          <p:nvPr/>
        </p:nvSpPr>
        <p:spPr>
          <a:xfrm>
            <a:off x="609600" y="3383280"/>
            <a:ext cx="10972800" cy="1828800"/>
          </a:xfrm>
          <a:prstGeom prst="roundRect">
            <a:avLst>
              <a:gd name="adj" fmla="val 6250"/>
            </a:avLst>
          </a:prstGeom>
          <a:solidFill>
            <a:srgbClr val="134E4A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2000" y="3535680"/>
            <a:ext cx="502920" cy="502920"/>
          </a:xfrm>
          <a:prstGeom prst="ellipse">
            <a:avLst/>
          </a:prstGeom>
          <a:solidFill>
            <a:srgbClr val="134E4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75157" y="3648837"/>
            <a:ext cx="276606" cy="27660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62000" y="4130040"/>
            <a:ext cx="10668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Synthesis</a:t>
            </a:r>
            <a:endParaRPr lang="en-US" sz="2300" dirty="0"/>
          </a:p>
        </p:txBody>
      </p:sp>
      <p:sp>
        <p:nvSpPr>
          <p:cNvPr id="8" name="Text 5"/>
          <p:cNvSpPr/>
          <p:nvPr/>
        </p:nvSpPr>
        <p:spPr>
          <a:xfrm>
            <a:off x="762000" y="4632960"/>
            <a:ext cx="10668000" cy="426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B9D8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Quantum Computing &amp; Cryptography provides a deterministic foundation for scalable, high-impact presentation generation and engineering design.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609600" y="5394960"/>
            <a:ext cx="10972800" cy="548640"/>
          </a:xfrm>
          <a:prstGeom prst="rect">
            <a:avLst/>
          </a:prstGeom>
          <a:solidFill>
            <a:srgbClr val="073B3A"/>
          </a:solidFill>
          <a:ln w="12700">
            <a:solidFill>
              <a:srgbClr val="0F766E"/>
            </a:solidFill>
          </a:ln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3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ACTION: Deploy Quantum Computing &amp; Cryptography Architecture Today.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609600" y="6324600"/>
            <a:ext cx="10972800" cy="0"/>
          </a:xfrm>
          <a:prstGeom prst="line">
            <a:avLst/>
          </a:prstGeom>
          <a:noFill/>
          <a:ln w="12700">
            <a:solidFill>
              <a:srgbClr val="134E4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9600" y="6397752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B9D8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290560" y="639775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B9D8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/ 8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Quantum Computing &amp; Cryptography</dc:title>
  <dc:subject>PptxGenJS Presentation</dc:subject>
  <dc:creator>AI Presentation Planner (Fallback Engine)</dc:creator>
  <cp:lastModifiedBy>AI Presentation Planner (Fallback Engine)</cp:lastModifiedBy>
  <cp:revision>1</cp:revision>
  <dcterms:created xsi:type="dcterms:W3CDTF">2026-08-13T04:56:15Z</dcterms:created>
  <dcterms:modified xsi:type="dcterms:W3CDTF">2026-08-13T04:56:15Z</dcterms:modified>
</cp:coreProperties>
</file>