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Transaction Throughput (TPS)</a:t>
            </a:r>
          </a:p>
        </c:rich>
      </c:tx>
      <c:layout/>
      <c:overlay val="0"/>
    </c:title>
    <c:autoTitleDeleted val="0"/>
    <c:plotArea>
      <c:layout/>
      <c:barChart>
        <c:barDir val="col"/>
        <c:grouping val="clustered"/>
        <c:varyColors val="0"/>
        <c:ser>
          <c:idx val="0"/>
          <c:order val="0"/>
          <c:tx>
            <c:strRef>
              <c:f>Sheet1!$B$1</c:f>
              <c:strCache>
                <c:ptCount val="1"/>
                <c:pt idx="0">
                  <c:v>Transaction Throughput (TPS)</c:v>
                </c:pt>
              </c:strCache>
            </c:strRef>
          </c:tx>
          <c:spPr>
            <a:solidFill>
              <a:srgbClr val="06B6D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06B6D4"/>
              </a:solidFill>
              <a:effectLst/>
            </c:spPr>
          </c:dPt>
          <c:dPt>
            <c:idx val="1"/>
            <c:invertIfNegative val="0"/>
            <c:bubble3D val="0"/>
            <c:spPr>
              <a:solidFill>
                <a:srgbClr val="3B82F6"/>
              </a:solidFill>
              <a:effectLst/>
            </c:spPr>
          </c:dPt>
          <c:dPt>
            <c:idx val="2"/>
            <c:invertIfNegative val="0"/>
            <c:bubble3D val="0"/>
            <c:spPr>
              <a:solidFill>
                <a:srgbClr val="10B981"/>
              </a:solidFill>
              <a:effectLst/>
            </c:spPr>
          </c:dPt>
          <c:dPt>
            <c:idx val="3"/>
            <c:invertIfNegative val="0"/>
            <c:bubble3D val="0"/>
            <c:spPr>
              <a:solidFill>
                <a:srgbClr val="94A3B8"/>
              </a:solidFill>
              <a:effectLst/>
            </c:spPr>
          </c:dPt>
          <c:cat>
            <c:multiLvlStrRef>
              <c:f>Sheet1!$A$2:$A$5</c:f>
              <c:multiLvlStrCache>
                <c:ptCount val="4"/>
                <c:lvl>
                  <c:pt idx="0">
                    <c:v>L1 Base</c:v>
                  </c:pt>
                  <c:pt idx="1">
                    <c:v>Optimistic L2</c:v>
                  </c:pt>
                  <c:pt idx="2">
                    <c:v>ZK-Rollup L2</c:v>
                  </c:pt>
                  <c:pt idx="3">
                    <c:v>Enterprise L1</c:v>
                  </c:pt>
                </c:lvl>
              </c:multiLvlStrCache>
            </c:multiLvlStrRef>
          </c:cat>
          <c:val>
            <c:numRef>
              <c:f>Sheet1!$B$2:$B$5</c:f>
              <c:numCache>
                <c:formatCode>General</c:formatCode>
                <c:ptCount val="4"/>
                <c:pt idx="0">
                  <c:v>25</c:v>
                </c:pt>
                <c:pt idx="1">
                  <c:v>3000</c:v>
                </c:pt>
                <c:pt idx="2">
                  <c:v>7500</c:v>
                </c:pt>
                <c:pt idx="3">
                  <c:v>10000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presentation on "Blockchain Technology &amp; Decentralized Applications". Today we explore the foundational cryptographic primitives, consensus mechanisms, and enterprise architectures driving decentralized systems.
[Image Credit: "Blockchain Technology — Blockchain Technology &amp; Decentralized Applications (isometric)" by Local AI Model (Local-Diffusion-v2.1) (AI-Generated Asset) - local://ai-generator]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presentation examines four architectural tiers: cryptographic primitives, distributed consensus protocols, smart contract execution runtimes, and layer-2 scaling paradigms.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cryptographic immutability: block headers chain hashes together, while Merkle trees allow lightweight verification of transaction authenticity without storing the entire ledger.
[Image Credit: "Blockchain Technology — CRYPTOGRAPHIC INTEGRITY &amp; MERKLE TREE PRIMITIVES (isometric)" by Local AI Model (Local-Diffusion-v2.1) (AI-Generated Asset) - local://ai-generator]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four-stage transaction lifecycle: private key signing, peer-to-peer mempool validation, block packaging with VM execution, and Byzantine consensus finalization.
[Image Credit: "Blockchain Technology — DISTRIBUTED TRANSACTION LIFECYCLE &amp; CONSENSUS EXECUTION (isometric)" by Local AI Model (Local-Diffusion-v2.1) (AI-Generated Asset) - local://ai-generator]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contrast Proof of Work and Proof of Stake. While PoW relies on raw computational energy for security, PoS uses economic capital bonding and slashing penalties, reducing energy consumption by 99.95% while providing deterministic finality.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empirical metrics demonstrating blockchain evolution: 100,000+ TPS achievable via Layer-2 rollups, 99.95% energy reduction in PoS, sub-second finality, and over $120B in total value locked.
[Image Credit: "Blockchain Technology — EMPIRICAL NETWORK METRICS &amp; SCALABILITY AUDITS (isometric)" by Local AI Model (Local-Diffusion-v2.1) (AI-Generated Asset) - local://ai-generator]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compares transaction costs and finality across Layer-1 and Layer-2 architectures, while the chart highlights the massive throughput gains achieved by Zero-Knowledge and Optimistic rollups.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case study examines enterprise pharmaceutical provenance. By implementing permissioned distributed ledgers and IoT telemetry, the consortium eliminated counterfeit risks and reduced customs clearance times by 88%.
[Image Credit: "Blockchain Technology — ENTERPRISE SUPPLY CHAIN TRACEABILITY ON PERMISSIONED LEDGERS (isometric)" by Local AI Model (Local-Diffusion-v2.1) (AI-Generated Asset) - local://ai-generator]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strategic directives for enterprise blockchain adoption: adopt modular rollups, mandate formal verification for smart contracts, and integrate zero-knowledge proofs for confidential enterprise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blockchain technology replaces institutional trust with cryptographic certainty. By building on decentralized foundations, we enable transparent, tamper-proof global coordination.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90E"/>
        </a:solidFill>
      </p:bgPr>
    </p:bg>
    <p:spTree>
      <p:nvGrpSpPr>
        <p:cNvPr id="1" name=""/>
        <p:cNvGrpSpPr/>
        <p:nvPr/>
      </p:nvGrpSpPr>
      <p:grpSpPr>
        <a:xfrm>
          <a:off x="0" y="0"/>
          <a:ext cx="0" cy="0"/>
          <a:chOff x="0" y="0"/>
          <a:chExt cx="0" cy="0"/>
        </a:xfrm>
      </p:grpSpPr>
      <p:sp>
        <p:nvSpPr>
          <p:cNvPr id="3" name="Text 0"/>
          <p:cNvSpPr/>
          <p:nvPr/>
        </p:nvSpPr>
        <p:spPr>
          <a:xfrm>
            <a:off x="609600" y="1280160"/>
            <a:ext cx="6364224" cy="320040"/>
          </a:xfrm>
          <a:prstGeom prst="rect">
            <a:avLst/>
          </a:prstGeom>
          <a:noFill/>
          <a:ln/>
        </p:spPr>
        <p:txBody>
          <a:bodyPr wrap="square" rtlCol="0" anchor="t"/>
          <a:lstStyle/>
          <a:p>
            <a:pPr algn="l" indent="0" marL="0">
              <a:buNone/>
            </a:pPr>
            <a:r>
              <a:rPr lang="en-US" sz="1400" b="1" dirty="0">
                <a:solidFill>
                  <a:srgbClr val="10B981"/>
                </a:solidFill>
                <a:latin typeface="Segoe UI" pitchFamily="34" charset="0"/>
                <a:ea typeface="Segoe UI" pitchFamily="34" charset="-122"/>
                <a:cs typeface="Segoe UI" pitchFamily="34" charset="-120"/>
              </a:rPr>
              <a:t>DISTRIBUTED LEDGER TECHNOLOGY &amp; CONSENSUS PROTOCOLS</a:t>
            </a:r>
            <a:endParaRPr lang="en-US" sz="1400" dirty="0"/>
          </a:p>
        </p:txBody>
      </p:sp>
      <p:sp>
        <p:nvSpPr>
          <p:cNvPr id="4" name="Text 1"/>
          <p:cNvSpPr/>
          <p:nvPr/>
        </p:nvSpPr>
        <p:spPr>
          <a:xfrm>
            <a:off x="609600" y="1664208"/>
            <a:ext cx="6364224" cy="3017520"/>
          </a:xfrm>
          <a:prstGeom prst="rect">
            <a:avLst/>
          </a:prstGeom>
          <a:noFill/>
          <a:ln/>
        </p:spPr>
        <p:txBody>
          <a:bodyPr wrap="square" rtlCol="0" anchor="t"/>
          <a:lstStyle/>
          <a:p>
            <a:pPr algn="l" indent="0" marL="0">
              <a:buNone/>
            </a:pPr>
            <a:r>
              <a:rPr lang="en-US" sz="3200" b="1" dirty="0">
                <a:solidFill>
                  <a:srgbClr val="F8FAFC"/>
                </a:solidFill>
                <a:latin typeface="Trebuchet MS" pitchFamily="34" charset="0"/>
                <a:ea typeface="Trebuchet MS" pitchFamily="34" charset="-122"/>
                <a:cs typeface="Trebuchet MS" pitchFamily="34" charset="-120"/>
              </a:rPr>
              <a:t>Blockchain Technology &amp; Decentralized Applications</a:t>
            </a:r>
            <a:endParaRPr lang="en-US" sz="3200" dirty="0"/>
          </a:p>
        </p:txBody>
      </p:sp>
      <p:sp>
        <p:nvSpPr>
          <p:cNvPr id="5" name="Text 2"/>
          <p:cNvSpPr/>
          <p:nvPr/>
        </p:nvSpPr>
        <p:spPr>
          <a:xfrm>
            <a:off x="609600" y="4818888"/>
            <a:ext cx="6364224" cy="731520"/>
          </a:xfrm>
          <a:prstGeom prst="rect">
            <a:avLst/>
          </a:prstGeom>
          <a:noFill/>
          <a:ln/>
        </p:spPr>
        <p:txBody>
          <a:bodyPr wrap="square" rtlCol="0" anchor="t"/>
          <a:lstStyle/>
          <a:p>
            <a:pPr algn="l" indent="0" marL="0">
              <a:buNone/>
            </a:pPr>
            <a:r>
              <a:rPr lang="en-US" sz="1600" dirty="0">
                <a:solidFill>
                  <a:srgbClr val="1E3A5F"/>
                </a:solidFill>
                <a:latin typeface="Segoe UI" pitchFamily="34" charset="0"/>
                <a:ea typeface="Segoe UI" pitchFamily="34" charset="-122"/>
                <a:cs typeface="Segoe UI" pitchFamily="34" charset="-120"/>
              </a:rPr>
              <a:t>Distributed Ledgers, Cryptographic Consensus, Smart Contract Virtual Machines, and Enterprise Architectures</a:t>
            </a:r>
            <a:endParaRPr lang="en-US" sz="1600" dirty="0"/>
          </a:p>
        </p:txBody>
      </p:sp>
      <p:sp>
        <p:nvSpPr>
          <p:cNvPr id="6" name="Shape 3"/>
          <p:cNvSpPr/>
          <p:nvPr/>
        </p:nvSpPr>
        <p:spPr>
          <a:xfrm>
            <a:off x="7412736" y="1280160"/>
            <a:ext cx="4169664" cy="4572000"/>
          </a:xfrm>
          <a:prstGeom prst="roundRect">
            <a:avLst>
              <a:gd name="adj" fmla="val 2741"/>
            </a:avLst>
          </a:prstGeom>
          <a:solidFill>
            <a:srgbClr val="1E293B"/>
          </a:solidFill>
          <a:ln w="12700">
            <a:solidFill>
              <a:srgbClr val="1E3A5F"/>
            </a:solidFill>
            <a:prstDash val="solid"/>
          </a:ln>
          <a:effectLst>
            <a:outerShdw sx="100000" sy="100000" kx="0" ky="0" algn="bl" rotWithShape="0" blurRad="50800" dist="25400" dir="16200000">
              <a:srgbClr val="073B3A">
                <a:alpha val="8000"/>
              </a:srgbClr>
            </a:outerShdw>
          </a:effectLst>
        </p:spPr>
      </p:sp>
      <p:pic>
        <p:nvPicPr>
          <p:cNvPr id="7" name="Image 0" descr="C:\Projects\Presentation-Slides\ppt-generator\work\assets\ai_1786732982232_mg9qnt.png">    </p:cNvPr>
          <p:cNvPicPr>
            <a:picLocks noChangeAspect="1"/>
          </p:cNvPicPr>
          <p:nvPr/>
        </p:nvPicPr>
        <p:blipFill>
          <a:blip r:embed="rId1"/>
          <a:srcRect l="0" r="0" t="0" b="0"/>
          <a:stretch/>
        </p:blipFill>
        <p:spPr>
          <a:xfrm>
            <a:off x="7412736" y="1280160"/>
            <a:ext cx="4169664" cy="4572000"/>
          </a:xfrm>
          <a:prstGeom prst="rect">
            <a:avLst/>
          </a:prstGeom>
        </p:spPr>
      </p:pic>
      <p:sp>
        <p:nvSpPr>
          <p:cNvPr id="8" name="Shape 4"/>
          <p:cNvSpPr/>
          <p:nvPr/>
        </p:nvSpPr>
        <p:spPr>
          <a:xfrm>
            <a:off x="609600" y="6324600"/>
            <a:ext cx="10972800" cy="0"/>
          </a:xfrm>
          <a:prstGeom prst="line">
            <a:avLst/>
          </a:prstGeom>
          <a:noFill/>
          <a:ln w="12700">
            <a:solidFill>
              <a:srgbClr val="1E293B"/>
            </a:solidFill>
            <a:prstDash val="solid"/>
          </a:ln>
        </p:spPr>
      </p:sp>
      <p:sp>
        <p:nvSpPr>
          <p:cNvPr id="9" name="Text 5"/>
          <p:cNvSpPr/>
          <p:nvPr/>
        </p:nvSpPr>
        <p:spPr>
          <a:xfrm>
            <a:off x="609600" y="6397752"/>
            <a:ext cx="7680960" cy="274320"/>
          </a:xfrm>
          <a:prstGeom prst="rect">
            <a:avLst/>
          </a:prstGeom>
          <a:noFill/>
          <a:ln/>
        </p:spPr>
        <p:txBody>
          <a:bodyPr wrap="square" rtlCol="0" anchor="t"/>
          <a:lstStyle/>
          <a:p>
            <a:pPr algn="l" indent="0" marL="0">
              <a:buNone/>
            </a:pPr>
            <a:r>
              <a:rPr lang="en-US" sz="1200" dirty="0">
                <a:solidFill>
                  <a:srgbClr val="1E3A5F"/>
                </a:solidFill>
                <a:latin typeface="Segoe UI" pitchFamily="34" charset="0"/>
                <a:ea typeface="Segoe UI" pitchFamily="34" charset="-122"/>
                <a:cs typeface="Segoe UI" pitchFamily="34" charset="-120"/>
              </a:rPr>
              <a:t>Blockchain Technology &amp; Decentralized Applications</a:t>
            </a:r>
            <a:endParaRPr lang="en-US" sz="1200" dirty="0"/>
          </a:p>
        </p:txBody>
      </p:sp>
      <p:sp>
        <p:nvSpPr>
          <p:cNvPr id="10" name="Text 6"/>
          <p:cNvSpPr/>
          <p:nvPr/>
        </p:nvSpPr>
        <p:spPr>
          <a:xfrm>
            <a:off x="8290560" y="6397752"/>
            <a:ext cx="3291840" cy="274320"/>
          </a:xfrm>
          <a:prstGeom prst="rect">
            <a:avLst/>
          </a:prstGeom>
          <a:noFill/>
          <a:ln/>
        </p:spPr>
        <p:txBody>
          <a:bodyPr wrap="square" rtlCol="0" anchor="t"/>
          <a:lstStyle/>
          <a:p>
            <a:pPr algn="r" indent="0" marL="0">
              <a:buNone/>
            </a:pPr>
            <a:r>
              <a:rPr lang="en-US" sz="1200" dirty="0">
                <a:solidFill>
                  <a:srgbClr val="1E3A5F"/>
                </a:solidFill>
                <a:latin typeface="Segoe UI" pitchFamily="34" charset="0"/>
                <a:ea typeface="Segoe UI" pitchFamily="34" charset="-122"/>
                <a:cs typeface="Segoe UI" pitchFamily="34" charset="-120"/>
              </a:rPr>
              <a:t>1 / 10</a:t>
            </a:r>
            <a:endParaRPr lang="en-US" sz="1200" dirty="0"/>
          </a:p>
        </p:txBody>
      </p:sp>
    </p:spTree>
  </p:cSld>
  <p:clrMapOvr>
    <a:masterClrMapping/>
  </p:clrMapOvr>
  <p:transition spd="med" advClick="1">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609600" y="438150"/>
            <a:ext cx="10972800" cy="320040"/>
          </a:xfrm>
          <a:prstGeom prst="rect">
            <a:avLst/>
          </a:prstGeom>
          <a:noFill/>
          <a:ln/>
        </p:spPr>
        <p:txBody>
          <a:bodyPr wrap="square" rtlCol="0" anchor="t"/>
          <a:lstStyle/>
          <a:p>
            <a:pPr algn="l" indent="0" marL="0">
              <a:buNone/>
            </a:pPr>
            <a:r>
              <a:rPr lang="en-US" sz="1200" b="1" dirty="0">
                <a:solidFill>
                  <a:srgbClr val="06B6D4"/>
                </a:solidFill>
                <a:latin typeface="Segoe UI" pitchFamily="34" charset="0"/>
                <a:ea typeface="Segoe UI" pitchFamily="34" charset="-122"/>
                <a:cs typeface="Segoe UI" pitchFamily="34" charset="-120"/>
              </a:rPr>
              <a:t>DECENTRALIZED ARCHITECTURE &amp; SYSTEM TAXONOMY</a:t>
            </a:r>
            <a:endParaRPr lang="en-US" sz="1200" dirty="0"/>
          </a:p>
        </p:txBody>
      </p:sp>
      <p:sp>
        <p:nvSpPr>
          <p:cNvPr id="4" name="Text 1"/>
          <p:cNvSpPr/>
          <p:nvPr/>
        </p:nvSpPr>
        <p:spPr>
          <a:xfrm>
            <a:off x="609600" y="785622"/>
            <a:ext cx="10972800" cy="777240"/>
          </a:xfrm>
          <a:prstGeom prst="rect">
            <a:avLst/>
          </a:prstGeom>
          <a:noFill/>
          <a:ln/>
        </p:spPr>
        <p:txBody>
          <a:bodyPr wrap="square" rtlCol="0" anchor="t"/>
          <a:lstStyle/>
          <a:p>
            <a:pPr algn="l" indent="0" marL="0">
              <a:buNone/>
            </a:pPr>
            <a:r>
              <a:rPr lang="en-US" sz="2600" b="1" dirty="0">
                <a:solidFill>
                  <a:srgbClr val="090D16"/>
                </a:solidFill>
                <a:latin typeface="Trebuchet MS" pitchFamily="34" charset="0"/>
                <a:ea typeface="Trebuchet MS" pitchFamily="34" charset="-122"/>
                <a:cs typeface="Trebuchet MS" pitchFamily="34" charset="-120"/>
              </a:rPr>
              <a:t>Decentralized Architecture &amp; System Taxonomy</a:t>
            </a:r>
            <a:endParaRPr lang="en-US" sz="2600" dirty="0"/>
          </a:p>
        </p:txBody>
      </p:sp>
      <p:sp>
        <p:nvSpPr>
          <p:cNvPr id="5" name="Text 2"/>
          <p:cNvSpPr/>
          <p:nvPr/>
        </p:nvSpPr>
        <p:spPr>
          <a:xfrm>
            <a:off x="609600" y="1636014"/>
            <a:ext cx="10972800" cy="411480"/>
          </a:xfrm>
          <a:prstGeom prst="rect">
            <a:avLst/>
          </a:prstGeom>
          <a:noFill/>
          <a:ln/>
        </p:spPr>
        <p:txBody>
          <a:bodyPr wrap="square" rtlCol="0" anchor="t"/>
          <a:lstStyle/>
          <a:p>
            <a:pPr algn="l" indent="0" marL="0">
              <a:buNone/>
            </a:pPr>
            <a:r>
              <a:rPr lang="en-US" sz="1500" dirty="0">
                <a:solidFill>
                  <a:srgbClr val="94A3B8"/>
                </a:solidFill>
                <a:latin typeface="Segoe UI" pitchFamily="34" charset="0"/>
                <a:ea typeface="Segoe UI" pitchFamily="34" charset="-122"/>
                <a:cs typeface="Segoe UI" pitchFamily="34" charset="-120"/>
              </a:rPr>
              <a:t>Four core architectural pillars defining modern blockchain protocols and Web3 infrastructure.</a:t>
            </a:r>
            <a:endParaRPr lang="en-US" sz="1500" dirty="0"/>
          </a:p>
        </p:txBody>
      </p:sp>
      <p:sp>
        <p:nvSpPr>
          <p:cNvPr id="6" name="Shape 3"/>
          <p:cNvSpPr/>
          <p:nvPr/>
        </p:nvSpPr>
        <p:spPr>
          <a:xfrm>
            <a:off x="609600" y="2176272"/>
            <a:ext cx="5349240" cy="1719072"/>
          </a:xfrm>
          <a:prstGeom prst="roundRect">
            <a:avLst>
              <a:gd name="adj" fmla="val 6649"/>
            </a:avLst>
          </a:prstGeom>
          <a:solidFill>
            <a:srgbClr val="F8FAFC"/>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7" name="Shape 4"/>
          <p:cNvSpPr/>
          <p:nvPr/>
        </p:nvSpPr>
        <p:spPr>
          <a:xfrm>
            <a:off x="737616" y="2304288"/>
            <a:ext cx="292608" cy="292608"/>
          </a:xfrm>
          <a:prstGeom prst="ellipse">
            <a:avLst/>
          </a:prstGeom>
          <a:solidFill>
            <a:srgbClr val="0F172A"/>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3453" y="2370125"/>
            <a:ext cx="160934" cy="160934"/>
          </a:xfrm>
          <a:prstGeom prst="rect">
            <a:avLst/>
          </a:prstGeom>
        </p:spPr>
      </p:pic>
      <p:sp>
        <p:nvSpPr>
          <p:cNvPr id="9" name="Text 5"/>
          <p:cNvSpPr/>
          <p:nvPr/>
        </p:nvSpPr>
        <p:spPr>
          <a:xfrm>
            <a:off x="737616" y="2670048"/>
            <a:ext cx="5093208" cy="256032"/>
          </a:xfrm>
          <a:prstGeom prst="rect">
            <a:avLst/>
          </a:prstGeom>
          <a:noFill/>
          <a:ln/>
        </p:spPr>
        <p:txBody>
          <a:bodyPr wrap="square" rtlCol="0" anchor="t"/>
          <a:lstStyle/>
          <a:p>
            <a:pPr algn="l" indent="0" marL="0">
              <a:buNone/>
            </a:pPr>
            <a:r>
              <a:rPr lang="en-US" sz="1450" b="1" dirty="0">
                <a:solidFill>
                  <a:srgbClr val="090D16"/>
                </a:solidFill>
                <a:latin typeface="Segoe UI" pitchFamily="34" charset="0"/>
                <a:ea typeface="Segoe UI" pitchFamily="34" charset="-122"/>
                <a:cs typeface="Segoe UI" pitchFamily="34" charset="-120"/>
              </a:rPr>
              <a:t>1. Cryptographic Primitives</a:t>
            </a:r>
            <a:endParaRPr lang="en-US" sz="1450" dirty="0"/>
          </a:p>
        </p:txBody>
      </p:sp>
      <p:sp>
        <p:nvSpPr>
          <p:cNvPr id="10" name="Text 6"/>
          <p:cNvSpPr/>
          <p:nvPr/>
        </p:nvSpPr>
        <p:spPr>
          <a:xfrm>
            <a:off x="737616" y="2980944"/>
            <a:ext cx="5093208" cy="786384"/>
          </a:xfrm>
          <a:prstGeom prst="rect">
            <a:avLst/>
          </a:prstGeom>
          <a:noFill/>
          <a:ln/>
        </p:spPr>
        <p:txBody>
          <a:bodyPr wrap="square" rtlCol="0" anchor="t"/>
          <a:lstStyle/>
          <a:p>
            <a:pPr algn="l" indent="0" marL="0">
              <a:buNone/>
            </a:pPr>
            <a:r>
              <a:rPr lang="en-US" sz="1100" dirty="0">
                <a:solidFill>
                  <a:srgbClr val="94A3B8"/>
                </a:solidFill>
                <a:latin typeface="Segoe UI" pitchFamily="34" charset="0"/>
                <a:ea typeface="Segoe UI" pitchFamily="34" charset="-122"/>
                <a:cs typeface="Segoe UI" pitchFamily="34" charset="-120"/>
              </a:rPr>
              <a:t>Asymmetric key pairs, SHA-256/Keccak hashing, and Merkle Patricia trie state structures.</a:t>
            </a:r>
            <a:endParaRPr lang="en-US" sz="1100" dirty="0"/>
          </a:p>
        </p:txBody>
      </p:sp>
      <p:sp>
        <p:nvSpPr>
          <p:cNvPr id="11" name="Shape 7"/>
          <p:cNvSpPr/>
          <p:nvPr/>
        </p:nvSpPr>
        <p:spPr>
          <a:xfrm>
            <a:off x="6233160" y="2176272"/>
            <a:ext cx="5349240" cy="1719072"/>
          </a:xfrm>
          <a:prstGeom prst="roundRect">
            <a:avLst>
              <a:gd name="adj" fmla="val 6649"/>
            </a:avLst>
          </a:prstGeom>
          <a:solidFill>
            <a:srgbClr val="F8FAFC"/>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12" name="Shape 8"/>
          <p:cNvSpPr/>
          <p:nvPr/>
        </p:nvSpPr>
        <p:spPr>
          <a:xfrm>
            <a:off x="6361176" y="2304288"/>
            <a:ext cx="292608" cy="292608"/>
          </a:xfrm>
          <a:prstGeom prst="ellipse">
            <a:avLst/>
          </a:prstGeom>
          <a:solidFill>
            <a:srgbClr val="0F172A"/>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27013" y="2370125"/>
            <a:ext cx="160934" cy="160934"/>
          </a:xfrm>
          <a:prstGeom prst="rect">
            <a:avLst/>
          </a:prstGeom>
        </p:spPr>
      </p:pic>
      <p:sp>
        <p:nvSpPr>
          <p:cNvPr id="14" name="Text 9"/>
          <p:cNvSpPr/>
          <p:nvPr/>
        </p:nvSpPr>
        <p:spPr>
          <a:xfrm>
            <a:off x="6361176" y="2670048"/>
            <a:ext cx="5093208" cy="256032"/>
          </a:xfrm>
          <a:prstGeom prst="rect">
            <a:avLst/>
          </a:prstGeom>
          <a:noFill/>
          <a:ln/>
        </p:spPr>
        <p:txBody>
          <a:bodyPr wrap="square" rtlCol="0" anchor="t"/>
          <a:lstStyle/>
          <a:p>
            <a:pPr algn="l" indent="0" marL="0">
              <a:buNone/>
            </a:pPr>
            <a:r>
              <a:rPr lang="en-US" sz="1450" b="1" dirty="0">
                <a:solidFill>
                  <a:srgbClr val="090D16"/>
                </a:solidFill>
                <a:latin typeface="Segoe UI" pitchFamily="34" charset="0"/>
                <a:ea typeface="Segoe UI" pitchFamily="34" charset="-122"/>
                <a:cs typeface="Segoe UI" pitchFamily="34" charset="-120"/>
              </a:rPr>
              <a:t>2. Distributed Consensus Protocols</a:t>
            </a:r>
            <a:endParaRPr lang="en-US" sz="1450" dirty="0"/>
          </a:p>
        </p:txBody>
      </p:sp>
      <p:sp>
        <p:nvSpPr>
          <p:cNvPr id="15" name="Text 10"/>
          <p:cNvSpPr/>
          <p:nvPr/>
        </p:nvSpPr>
        <p:spPr>
          <a:xfrm>
            <a:off x="6361176" y="2980944"/>
            <a:ext cx="5093208" cy="786384"/>
          </a:xfrm>
          <a:prstGeom prst="rect">
            <a:avLst/>
          </a:prstGeom>
          <a:noFill/>
          <a:ln/>
        </p:spPr>
        <p:txBody>
          <a:bodyPr wrap="square" rtlCol="0" anchor="t"/>
          <a:lstStyle/>
          <a:p>
            <a:pPr algn="l" indent="0" marL="0">
              <a:buNone/>
            </a:pPr>
            <a:r>
              <a:rPr lang="en-US" sz="1100" dirty="0">
                <a:solidFill>
                  <a:srgbClr val="94A3B8"/>
                </a:solidFill>
                <a:latin typeface="Segoe UI" pitchFamily="34" charset="0"/>
                <a:ea typeface="Segoe UI" pitchFamily="34" charset="-122"/>
                <a:cs typeface="Segoe UI" pitchFamily="34" charset="-120"/>
              </a:rPr>
              <a:t>Byzantine Fault Tolerant (BFT) consensus, Proof of Stake, and Nakamoto longest-chain rules.</a:t>
            </a:r>
            <a:endParaRPr lang="en-US" sz="1100" dirty="0"/>
          </a:p>
        </p:txBody>
      </p:sp>
      <p:sp>
        <p:nvSpPr>
          <p:cNvPr id="16" name="Shape 11"/>
          <p:cNvSpPr/>
          <p:nvPr/>
        </p:nvSpPr>
        <p:spPr>
          <a:xfrm>
            <a:off x="609600" y="4078224"/>
            <a:ext cx="5349240" cy="1719072"/>
          </a:xfrm>
          <a:prstGeom prst="roundRect">
            <a:avLst>
              <a:gd name="adj" fmla="val 6649"/>
            </a:avLst>
          </a:prstGeom>
          <a:solidFill>
            <a:srgbClr val="F8FAFC"/>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17" name="Shape 12"/>
          <p:cNvSpPr/>
          <p:nvPr/>
        </p:nvSpPr>
        <p:spPr>
          <a:xfrm>
            <a:off x="737616" y="4206240"/>
            <a:ext cx="292608" cy="292608"/>
          </a:xfrm>
          <a:prstGeom prst="ellipse">
            <a:avLst/>
          </a:prstGeom>
          <a:solidFill>
            <a:srgbClr val="0F172A"/>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453" y="4272077"/>
            <a:ext cx="160934" cy="160934"/>
          </a:xfrm>
          <a:prstGeom prst="rect">
            <a:avLst/>
          </a:prstGeom>
        </p:spPr>
      </p:pic>
      <p:sp>
        <p:nvSpPr>
          <p:cNvPr id="19" name="Text 13"/>
          <p:cNvSpPr/>
          <p:nvPr/>
        </p:nvSpPr>
        <p:spPr>
          <a:xfrm>
            <a:off x="737616" y="4572000"/>
            <a:ext cx="5093208" cy="256032"/>
          </a:xfrm>
          <a:prstGeom prst="rect">
            <a:avLst/>
          </a:prstGeom>
          <a:noFill/>
          <a:ln/>
        </p:spPr>
        <p:txBody>
          <a:bodyPr wrap="square" rtlCol="0" anchor="t"/>
          <a:lstStyle/>
          <a:p>
            <a:pPr algn="l" indent="0" marL="0">
              <a:buNone/>
            </a:pPr>
            <a:r>
              <a:rPr lang="en-US" sz="1450" b="1" dirty="0">
                <a:solidFill>
                  <a:srgbClr val="090D16"/>
                </a:solidFill>
                <a:latin typeface="Segoe UI" pitchFamily="34" charset="0"/>
                <a:ea typeface="Segoe UI" pitchFamily="34" charset="-122"/>
                <a:cs typeface="Segoe UI" pitchFamily="34" charset="-120"/>
              </a:rPr>
              <a:t>3. Smart Contract Virtual Machines</a:t>
            </a:r>
            <a:endParaRPr lang="en-US" sz="1450" dirty="0"/>
          </a:p>
        </p:txBody>
      </p:sp>
      <p:sp>
        <p:nvSpPr>
          <p:cNvPr id="20" name="Text 14"/>
          <p:cNvSpPr/>
          <p:nvPr/>
        </p:nvSpPr>
        <p:spPr>
          <a:xfrm>
            <a:off x="737616" y="4882896"/>
            <a:ext cx="5093208" cy="786384"/>
          </a:xfrm>
          <a:prstGeom prst="rect">
            <a:avLst/>
          </a:prstGeom>
          <a:noFill/>
          <a:ln/>
        </p:spPr>
        <p:txBody>
          <a:bodyPr wrap="square" rtlCol="0" anchor="t"/>
          <a:lstStyle/>
          <a:p>
            <a:pPr algn="l" indent="0" marL="0">
              <a:buNone/>
            </a:pPr>
            <a:r>
              <a:rPr lang="en-US" sz="1100" dirty="0">
                <a:solidFill>
                  <a:srgbClr val="94A3B8"/>
                </a:solidFill>
                <a:latin typeface="Segoe UI" pitchFamily="34" charset="0"/>
                <a:ea typeface="Segoe UI" pitchFamily="34" charset="-122"/>
                <a:cs typeface="Segoe UI" pitchFamily="34" charset="-120"/>
              </a:rPr>
              <a:t>Deterministic state transition execution engines (EVM, WASM) and Turing-complete logic.</a:t>
            </a:r>
            <a:endParaRPr lang="en-US" sz="1100" dirty="0"/>
          </a:p>
        </p:txBody>
      </p:sp>
      <p:sp>
        <p:nvSpPr>
          <p:cNvPr id="21" name="Shape 15"/>
          <p:cNvSpPr/>
          <p:nvPr/>
        </p:nvSpPr>
        <p:spPr>
          <a:xfrm>
            <a:off x="6233160" y="4078224"/>
            <a:ext cx="5349240" cy="1719072"/>
          </a:xfrm>
          <a:prstGeom prst="roundRect">
            <a:avLst>
              <a:gd name="adj" fmla="val 6649"/>
            </a:avLst>
          </a:prstGeom>
          <a:solidFill>
            <a:srgbClr val="F8FAFC"/>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22" name="Shape 16"/>
          <p:cNvSpPr/>
          <p:nvPr/>
        </p:nvSpPr>
        <p:spPr>
          <a:xfrm>
            <a:off x="6361176" y="4206240"/>
            <a:ext cx="292608" cy="292608"/>
          </a:xfrm>
          <a:prstGeom prst="ellipse">
            <a:avLst/>
          </a:prstGeom>
          <a:solidFill>
            <a:srgbClr val="0F172A"/>
          </a:solidFill>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27013" y="4272077"/>
            <a:ext cx="160934" cy="160934"/>
          </a:xfrm>
          <a:prstGeom prst="rect">
            <a:avLst/>
          </a:prstGeom>
        </p:spPr>
      </p:pic>
      <p:sp>
        <p:nvSpPr>
          <p:cNvPr id="24" name="Text 17"/>
          <p:cNvSpPr/>
          <p:nvPr/>
        </p:nvSpPr>
        <p:spPr>
          <a:xfrm>
            <a:off x="6361176" y="4572000"/>
            <a:ext cx="5093208" cy="256032"/>
          </a:xfrm>
          <a:prstGeom prst="rect">
            <a:avLst/>
          </a:prstGeom>
          <a:noFill/>
          <a:ln/>
        </p:spPr>
        <p:txBody>
          <a:bodyPr wrap="square" rtlCol="0" anchor="t"/>
          <a:lstStyle/>
          <a:p>
            <a:pPr algn="l" indent="0" marL="0">
              <a:buNone/>
            </a:pPr>
            <a:r>
              <a:rPr lang="en-US" sz="1450" b="1" dirty="0">
                <a:solidFill>
                  <a:srgbClr val="090D16"/>
                </a:solidFill>
                <a:latin typeface="Segoe UI" pitchFamily="34" charset="0"/>
                <a:ea typeface="Segoe UI" pitchFamily="34" charset="-122"/>
                <a:cs typeface="Segoe UI" pitchFamily="34" charset="-120"/>
              </a:rPr>
              <a:t>4. Layer-2 Scalability Solutions</a:t>
            </a:r>
            <a:endParaRPr lang="en-US" sz="1450" dirty="0"/>
          </a:p>
        </p:txBody>
      </p:sp>
      <p:sp>
        <p:nvSpPr>
          <p:cNvPr id="25" name="Text 18"/>
          <p:cNvSpPr/>
          <p:nvPr/>
        </p:nvSpPr>
        <p:spPr>
          <a:xfrm>
            <a:off x="6361176" y="4882896"/>
            <a:ext cx="5093208" cy="786384"/>
          </a:xfrm>
          <a:prstGeom prst="rect">
            <a:avLst/>
          </a:prstGeom>
          <a:noFill/>
          <a:ln/>
        </p:spPr>
        <p:txBody>
          <a:bodyPr wrap="square" rtlCol="0" anchor="t"/>
          <a:lstStyle/>
          <a:p>
            <a:pPr algn="l" indent="0" marL="0">
              <a:buNone/>
            </a:pPr>
            <a:r>
              <a:rPr lang="en-US" sz="1100" dirty="0">
                <a:solidFill>
                  <a:srgbClr val="94A3B8"/>
                </a:solidFill>
                <a:latin typeface="Segoe UI" pitchFamily="34" charset="0"/>
                <a:ea typeface="Segoe UI" pitchFamily="34" charset="-122"/>
                <a:cs typeface="Segoe UI" pitchFamily="34" charset="-120"/>
              </a:rPr>
              <a:t>Optimistic and Zero-Knowledge (ZK) rollups scaling throughput without compromising base-layer security.</a:t>
            </a:r>
            <a:endParaRPr lang="en-US" sz="1100" dirty="0"/>
          </a:p>
        </p:txBody>
      </p:sp>
      <p:sp>
        <p:nvSpPr>
          <p:cNvPr id="26" name="Shape 19"/>
          <p:cNvSpPr/>
          <p:nvPr/>
        </p:nvSpPr>
        <p:spPr>
          <a:xfrm>
            <a:off x="609600" y="6324600"/>
            <a:ext cx="10972800" cy="0"/>
          </a:xfrm>
          <a:prstGeom prst="line">
            <a:avLst/>
          </a:prstGeom>
          <a:noFill/>
          <a:ln w="12700">
            <a:solidFill>
              <a:srgbClr val="1E3A5F"/>
            </a:solidFill>
            <a:prstDash val="solid"/>
          </a:ln>
        </p:spPr>
      </p:sp>
      <p:sp>
        <p:nvSpPr>
          <p:cNvPr id="27" name="Text 20"/>
          <p:cNvSpPr/>
          <p:nvPr/>
        </p:nvSpPr>
        <p:spPr>
          <a:xfrm>
            <a:off x="609600" y="6397752"/>
            <a:ext cx="7680960" cy="274320"/>
          </a:xfrm>
          <a:prstGeom prst="rect">
            <a:avLst/>
          </a:prstGeom>
          <a:noFill/>
          <a:ln/>
        </p:spPr>
        <p:txBody>
          <a:bodyPr wrap="square" rtlCol="0" anchor="t"/>
          <a:lstStyle/>
          <a:p>
            <a:pPr algn="l" indent="0" marL="0">
              <a:buNone/>
            </a:pPr>
            <a:r>
              <a:rPr lang="en-US" sz="1200" dirty="0">
                <a:solidFill>
                  <a:srgbClr val="94A3B8"/>
                </a:solidFill>
                <a:latin typeface="Segoe UI" pitchFamily="34" charset="0"/>
                <a:ea typeface="Segoe UI" pitchFamily="34" charset="-122"/>
                <a:cs typeface="Segoe UI" pitchFamily="34" charset="-120"/>
              </a:rPr>
              <a:t>Decentralized Architecture &amp; System Taxonomy</a:t>
            </a:r>
            <a:endParaRPr lang="en-US" sz="1200" dirty="0"/>
          </a:p>
        </p:txBody>
      </p:sp>
      <p:sp>
        <p:nvSpPr>
          <p:cNvPr id="28" name="Text 21"/>
          <p:cNvSpPr/>
          <p:nvPr/>
        </p:nvSpPr>
        <p:spPr>
          <a:xfrm>
            <a:off x="8290560" y="6397752"/>
            <a:ext cx="3291840" cy="274320"/>
          </a:xfrm>
          <a:prstGeom prst="rect">
            <a:avLst/>
          </a:prstGeom>
          <a:noFill/>
          <a:ln/>
        </p:spPr>
        <p:txBody>
          <a:bodyPr wrap="square" rtlCol="0" anchor="t"/>
          <a:lstStyle/>
          <a:p>
            <a:pPr algn="r" indent="0" marL="0">
              <a:buNone/>
            </a:pPr>
            <a:r>
              <a:rPr lang="en-US" sz="1200" dirty="0">
                <a:solidFill>
                  <a:srgbClr val="94A3B8"/>
                </a:solidFill>
                <a:latin typeface="Segoe UI" pitchFamily="34" charset="0"/>
                <a:ea typeface="Segoe UI" pitchFamily="34" charset="-122"/>
                <a:cs typeface="Segoe UI" pitchFamily="34" charset="-120"/>
              </a:rPr>
              <a:t>2 / 10</a:t>
            </a:r>
            <a:endParaRPr lang="en-US" sz="1200" dirty="0"/>
          </a:p>
        </p:txBody>
      </p:sp>
    </p:spTree>
  </p:cSld>
  <p:clrMapOvr>
    <a:masterClrMapping/>
  </p:clrMapOvr>
  <p:transition spd="med" advClick="1">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609600" y="438150"/>
            <a:ext cx="10972800" cy="320040"/>
          </a:xfrm>
          <a:prstGeom prst="rect">
            <a:avLst/>
          </a:prstGeom>
          <a:noFill/>
          <a:ln/>
        </p:spPr>
        <p:txBody>
          <a:bodyPr wrap="square" rtlCol="0" anchor="t"/>
          <a:lstStyle/>
          <a:p>
            <a:pPr algn="l" indent="0" marL="0">
              <a:buNone/>
            </a:pPr>
            <a:r>
              <a:rPr lang="en-US" sz="1200" b="1" dirty="0">
                <a:solidFill>
                  <a:srgbClr val="06B6D4"/>
                </a:solidFill>
                <a:latin typeface="Segoe UI" pitchFamily="34" charset="0"/>
                <a:ea typeface="Segoe UI" pitchFamily="34" charset="-122"/>
                <a:cs typeface="Segoe UI" pitchFamily="34" charset="-120"/>
              </a:rPr>
              <a:t>CRYPTOGRAPHIC INTEGRITY &amp; MERKLE TREE PRIMITIVES</a:t>
            </a:r>
            <a:endParaRPr lang="en-US" sz="1200" dirty="0"/>
          </a:p>
        </p:txBody>
      </p:sp>
      <p:sp>
        <p:nvSpPr>
          <p:cNvPr id="4" name="Text 1"/>
          <p:cNvSpPr/>
          <p:nvPr/>
        </p:nvSpPr>
        <p:spPr>
          <a:xfrm>
            <a:off x="609600" y="785622"/>
            <a:ext cx="10972800" cy="713232"/>
          </a:xfrm>
          <a:prstGeom prst="rect">
            <a:avLst/>
          </a:prstGeom>
          <a:noFill/>
          <a:ln/>
        </p:spPr>
        <p:txBody>
          <a:bodyPr wrap="square" rtlCol="0" anchor="t"/>
          <a:lstStyle/>
          <a:p>
            <a:pPr algn="l" indent="0" marL="0">
              <a:buNone/>
            </a:pPr>
            <a:r>
              <a:rPr lang="en-US" sz="2800" b="1" dirty="0">
                <a:solidFill>
                  <a:srgbClr val="090D16"/>
                </a:solidFill>
                <a:latin typeface="Trebuchet MS" pitchFamily="34" charset="0"/>
                <a:ea typeface="Trebuchet MS" pitchFamily="34" charset="-122"/>
                <a:cs typeface="Trebuchet MS" pitchFamily="34" charset="-120"/>
              </a:rPr>
              <a:t>Cryptographic Integrity &amp; Merkle Trees</a:t>
            </a:r>
            <a:endParaRPr lang="en-US" sz="2800" dirty="0"/>
          </a:p>
        </p:txBody>
      </p:sp>
      <p:sp>
        <p:nvSpPr>
          <p:cNvPr id="5" name="Text 2"/>
          <p:cNvSpPr/>
          <p:nvPr/>
        </p:nvSpPr>
        <p:spPr>
          <a:xfrm>
            <a:off x="609600" y="1572006"/>
            <a:ext cx="10972800" cy="411480"/>
          </a:xfrm>
          <a:prstGeom prst="rect">
            <a:avLst/>
          </a:prstGeom>
          <a:noFill/>
          <a:ln/>
        </p:spPr>
        <p:txBody>
          <a:bodyPr wrap="square" rtlCol="0" anchor="t"/>
          <a:lstStyle/>
          <a:p>
            <a:pPr algn="l" indent="0" marL="0">
              <a:buNone/>
            </a:pPr>
            <a:r>
              <a:rPr lang="en-US" sz="1500" dirty="0">
                <a:solidFill>
                  <a:srgbClr val="94A3B8"/>
                </a:solidFill>
                <a:latin typeface="Segoe UI" pitchFamily="34" charset="0"/>
                <a:ea typeface="Segoe UI" pitchFamily="34" charset="-122"/>
                <a:cs typeface="Segoe UI" pitchFamily="34" charset="-120"/>
              </a:rPr>
              <a:t>How asymmetric cryptography and cryptographic hash pointers create tamper-evident immutable ledgers.</a:t>
            </a:r>
            <a:endParaRPr lang="en-US" sz="1500" dirty="0"/>
          </a:p>
        </p:txBody>
      </p:sp>
      <p:sp>
        <p:nvSpPr>
          <p:cNvPr id="6" name="Shape 3"/>
          <p:cNvSpPr/>
          <p:nvPr/>
        </p:nvSpPr>
        <p:spPr>
          <a:xfrm>
            <a:off x="609600" y="2011680"/>
            <a:ext cx="4608576" cy="3931920"/>
          </a:xfrm>
          <a:prstGeom prst="roundRect">
            <a:avLst>
              <a:gd name="adj" fmla="val 2907"/>
            </a:avLst>
          </a:prstGeom>
          <a:solidFill>
            <a:srgbClr val="1E293B"/>
          </a:solidFill>
          <a:ln w="12700">
            <a:solidFill>
              <a:srgbClr val="1E3A5F"/>
            </a:solidFill>
            <a:prstDash val="solid"/>
          </a:ln>
          <a:effectLst>
            <a:outerShdw sx="100000" sy="100000" kx="0" ky="0" algn="bl" rotWithShape="0" blurRad="50800" dist="25400" dir="16200000">
              <a:srgbClr val="073B3A">
                <a:alpha val="8000"/>
              </a:srgbClr>
            </a:outerShdw>
          </a:effectLst>
        </p:spPr>
      </p:sp>
      <p:pic>
        <p:nvPicPr>
          <p:cNvPr id="7" name="Image 0" descr="C:\Projects\Presentation-Slides\ppt-generator\work\assets\ai_1786732982235_tj7e0o.png">    </p:cNvPr>
          <p:cNvPicPr>
            <a:picLocks noChangeAspect="1"/>
          </p:cNvPicPr>
          <p:nvPr/>
        </p:nvPicPr>
        <p:blipFill>
          <a:blip r:embed="rId1"/>
          <a:srcRect l="0" r="0" t="0" b="0"/>
          <a:stretch/>
        </p:blipFill>
        <p:spPr>
          <a:xfrm>
            <a:off x="609600" y="2011680"/>
            <a:ext cx="4608576" cy="3931920"/>
          </a:xfrm>
          <a:prstGeom prst="rect">
            <a:avLst/>
          </a:prstGeom>
        </p:spPr>
      </p:pic>
      <p:sp>
        <p:nvSpPr>
          <p:cNvPr id="8" name="Text 4"/>
          <p:cNvSpPr/>
          <p:nvPr/>
        </p:nvSpPr>
        <p:spPr>
          <a:xfrm>
            <a:off x="609600" y="6016752"/>
            <a:ext cx="4608576" cy="274320"/>
          </a:xfrm>
          <a:prstGeom prst="rect">
            <a:avLst/>
          </a:prstGeom>
          <a:noFill/>
          <a:ln/>
        </p:spPr>
        <p:txBody>
          <a:bodyPr wrap="square" rtlCol="0" anchor="t"/>
          <a:lstStyle/>
          <a:p>
            <a:pPr algn="ctr" indent="0" marL="0">
              <a:buNone/>
            </a:pPr>
            <a:r>
              <a:rPr lang="en-US" sz="1200" dirty="0">
                <a:solidFill>
                  <a:srgbClr val="94A3B8"/>
                </a:solidFill>
                <a:latin typeface="Segoe UI" pitchFamily="34" charset="0"/>
                <a:ea typeface="Segoe UI" pitchFamily="34" charset="-122"/>
                <a:cs typeface="Segoe UI" pitchFamily="34" charset="-120"/>
              </a:rPr>
              <a:t>Immutable Trust Without Central Intermediaries</a:t>
            </a:r>
            <a:endParaRPr lang="en-US" sz="1200" dirty="0"/>
          </a:p>
        </p:txBody>
      </p:sp>
      <p:sp>
        <p:nvSpPr>
          <p:cNvPr id="9" name="Shape 5"/>
          <p:cNvSpPr/>
          <p:nvPr/>
        </p:nvSpPr>
        <p:spPr>
          <a:xfrm>
            <a:off x="5657088" y="2011680"/>
            <a:ext cx="5925312" cy="1219200"/>
          </a:xfrm>
          <a:prstGeom prst="roundRect">
            <a:avLst>
              <a:gd name="adj" fmla="val 9375"/>
            </a:avLst>
          </a:prstGeom>
          <a:solidFill>
            <a:srgbClr val="0F172A"/>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10" name="Shape 6"/>
          <p:cNvSpPr/>
          <p:nvPr/>
        </p:nvSpPr>
        <p:spPr>
          <a:xfrm>
            <a:off x="5748528" y="2103120"/>
            <a:ext cx="219456" cy="219456"/>
          </a:xfrm>
          <a:prstGeom prst="ellipse">
            <a:avLst/>
          </a:prstGeom>
          <a:solidFill>
            <a:srgbClr val="0F172A"/>
          </a:solidFill>
          <a:ln/>
        </p:spPr>
      </p:sp>
      <p:pic>
        <p:nvPicPr>
          <p:cNvPr id="11"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97906" y="2152498"/>
            <a:ext cx="120701" cy="120701"/>
          </a:xfrm>
          <a:prstGeom prst="rect">
            <a:avLst/>
          </a:prstGeom>
        </p:spPr>
      </p:pic>
      <p:sp>
        <p:nvSpPr>
          <p:cNvPr id="12" name="Text 7"/>
          <p:cNvSpPr/>
          <p:nvPr/>
        </p:nvSpPr>
        <p:spPr>
          <a:xfrm>
            <a:off x="5748528" y="2368296"/>
            <a:ext cx="5742432" cy="219456"/>
          </a:xfrm>
          <a:prstGeom prst="rect">
            <a:avLst/>
          </a:prstGeom>
          <a:noFill/>
          <a:ln/>
        </p:spPr>
        <p:txBody>
          <a:bodyPr wrap="square" rtlCol="0" anchor="t"/>
          <a:lstStyle/>
          <a:p>
            <a:pPr algn="l" indent="0" marL="0">
              <a:buNone/>
            </a:pPr>
            <a:r>
              <a:rPr lang="en-US" sz="1300" b="1" dirty="0">
                <a:solidFill>
                  <a:srgbClr val="090D16"/>
                </a:solidFill>
                <a:latin typeface="Segoe UI" pitchFamily="34" charset="0"/>
                <a:ea typeface="Segoe UI" pitchFamily="34" charset="-122"/>
                <a:cs typeface="Segoe UI" pitchFamily="34" charset="-120"/>
              </a:rPr>
              <a:t>Immutable Trust Without Central Intermediaries</a:t>
            </a:r>
            <a:endParaRPr lang="en-US" sz="1300" dirty="0"/>
          </a:p>
        </p:txBody>
      </p:sp>
      <p:sp>
        <p:nvSpPr>
          <p:cNvPr id="13" name="Text 8"/>
          <p:cNvSpPr/>
          <p:nvPr/>
        </p:nvSpPr>
        <p:spPr>
          <a:xfrm>
            <a:off x="5748528" y="2615184"/>
            <a:ext cx="5742432" cy="524256"/>
          </a:xfrm>
          <a:prstGeom prst="rect">
            <a:avLst/>
          </a:prstGeom>
          <a:noFill/>
          <a:ln/>
        </p:spPr>
        <p:txBody>
          <a:bodyPr wrap="square" rtlCol="0" anchor="t"/>
          <a:lstStyle/>
          <a:p>
            <a:pPr algn="l" indent="0" marL="0">
              <a:buNone/>
            </a:pPr>
            <a:r>
              <a:rPr lang="en-US" sz="1050" dirty="0">
                <a:solidFill>
                  <a:srgbClr val="94A3B8"/>
                </a:solidFill>
                <a:latin typeface="Segoe UI" pitchFamily="34" charset="0"/>
                <a:ea typeface="Segoe UI" pitchFamily="34" charset="-122"/>
                <a:cs typeface="Segoe UI" pitchFamily="34" charset="-120"/>
              </a:rPr>
              <a:t>A blockchain organizes transactions into cryptographically linked blocks. Each block header contains the cryptographic hash of the previous block and the Merkle root of all enclosed transactions, making historical ledger alterations computationally infeasible.</a:t>
            </a:r>
            <a:endParaRPr lang="en-US" sz="1050" dirty="0"/>
          </a:p>
        </p:txBody>
      </p:sp>
      <p:sp>
        <p:nvSpPr>
          <p:cNvPr id="14" name="Shape 9"/>
          <p:cNvSpPr/>
          <p:nvPr/>
        </p:nvSpPr>
        <p:spPr>
          <a:xfrm>
            <a:off x="5657088" y="3368040"/>
            <a:ext cx="5925312" cy="1219200"/>
          </a:xfrm>
          <a:prstGeom prst="roundRect">
            <a:avLst>
              <a:gd name="adj" fmla="val 9375"/>
            </a:avLst>
          </a:prstGeom>
          <a:solidFill>
            <a:srgbClr val="F8FAFC"/>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15" name="Shape 10"/>
          <p:cNvSpPr/>
          <p:nvPr/>
        </p:nvSpPr>
        <p:spPr>
          <a:xfrm>
            <a:off x="5748528" y="3459480"/>
            <a:ext cx="219456" cy="219456"/>
          </a:xfrm>
          <a:prstGeom prst="ellipse">
            <a:avLst/>
          </a:prstGeom>
          <a:solidFill>
            <a:srgbClr val="0F172A"/>
          </a:solidFill>
          <a:ln/>
        </p:spPr>
      </p:sp>
      <p:pic>
        <p:nvPicPr>
          <p:cNvPr id="1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97906" y="3508858"/>
            <a:ext cx="120701" cy="120701"/>
          </a:xfrm>
          <a:prstGeom prst="rect">
            <a:avLst/>
          </a:prstGeom>
        </p:spPr>
      </p:pic>
      <p:sp>
        <p:nvSpPr>
          <p:cNvPr id="17" name="Text 11"/>
          <p:cNvSpPr/>
          <p:nvPr/>
        </p:nvSpPr>
        <p:spPr>
          <a:xfrm>
            <a:off x="5748528" y="3724656"/>
            <a:ext cx="5742432" cy="219456"/>
          </a:xfrm>
          <a:prstGeom prst="rect">
            <a:avLst/>
          </a:prstGeom>
          <a:noFill/>
          <a:ln/>
        </p:spPr>
        <p:txBody>
          <a:bodyPr wrap="square" rtlCol="0" anchor="t"/>
          <a:lstStyle/>
          <a:p>
            <a:pPr algn="l" indent="0" marL="0">
              <a:buNone/>
            </a:pPr>
            <a:r>
              <a:rPr lang="en-US" sz="1300" b="1" dirty="0">
                <a:solidFill>
                  <a:srgbClr val="090D16"/>
                </a:solidFill>
                <a:latin typeface="Segoe UI" pitchFamily="34" charset="0"/>
                <a:ea typeface="Segoe UI" pitchFamily="34" charset="-122"/>
                <a:cs typeface="Segoe UI" pitchFamily="34" charset="-120"/>
              </a:rPr>
              <a:t>Merkle Tree State Proofs</a:t>
            </a:r>
            <a:endParaRPr lang="en-US" sz="1300" dirty="0"/>
          </a:p>
        </p:txBody>
      </p:sp>
      <p:sp>
        <p:nvSpPr>
          <p:cNvPr id="18" name="Text 12"/>
          <p:cNvSpPr/>
          <p:nvPr/>
        </p:nvSpPr>
        <p:spPr>
          <a:xfrm>
            <a:off x="5748528" y="3971544"/>
            <a:ext cx="5742432" cy="524256"/>
          </a:xfrm>
          <a:prstGeom prst="rect">
            <a:avLst/>
          </a:prstGeom>
          <a:noFill/>
          <a:ln/>
        </p:spPr>
        <p:txBody>
          <a:bodyPr wrap="square" rtlCol="0" anchor="t"/>
          <a:lstStyle/>
          <a:p>
            <a:pPr algn="l" indent="0" marL="0">
              <a:buNone/>
            </a:pPr>
            <a:r>
              <a:rPr lang="en-US" sz="1050" dirty="0">
                <a:solidFill>
                  <a:srgbClr val="94A3B8"/>
                </a:solidFill>
                <a:latin typeface="Segoe UI" pitchFamily="34" charset="0"/>
                <a:ea typeface="Segoe UI" pitchFamily="34" charset="-122"/>
                <a:cs typeface="Segoe UI" pitchFamily="34" charset="-120"/>
              </a:rPr>
              <a:t>Hierarchical cryptographic data structure enabling lightweight clients to verify transaction inclusion with O(log N) proof complexity.</a:t>
            </a:r>
            <a:endParaRPr lang="en-US" sz="1050" dirty="0"/>
          </a:p>
        </p:txBody>
      </p:sp>
      <p:sp>
        <p:nvSpPr>
          <p:cNvPr id="19" name="Shape 13"/>
          <p:cNvSpPr/>
          <p:nvPr/>
        </p:nvSpPr>
        <p:spPr>
          <a:xfrm>
            <a:off x="5657088" y="4724400"/>
            <a:ext cx="5925312" cy="1219200"/>
          </a:xfrm>
          <a:prstGeom prst="roundRect">
            <a:avLst>
              <a:gd name="adj" fmla="val 9375"/>
            </a:avLst>
          </a:prstGeom>
          <a:solidFill>
            <a:srgbClr val="F8FAFC"/>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20" name="Shape 14"/>
          <p:cNvSpPr/>
          <p:nvPr/>
        </p:nvSpPr>
        <p:spPr>
          <a:xfrm>
            <a:off x="5748528" y="4815840"/>
            <a:ext cx="219456" cy="219456"/>
          </a:xfrm>
          <a:prstGeom prst="ellipse">
            <a:avLst/>
          </a:prstGeom>
          <a:solidFill>
            <a:srgbClr val="0F172A"/>
          </a:solidFill>
          <a:ln/>
        </p:spPr>
      </p:sp>
      <p:pic>
        <p:nvPicPr>
          <p:cNvPr id="2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97906" y="4865218"/>
            <a:ext cx="120701" cy="120701"/>
          </a:xfrm>
          <a:prstGeom prst="rect">
            <a:avLst/>
          </a:prstGeom>
        </p:spPr>
      </p:pic>
      <p:sp>
        <p:nvSpPr>
          <p:cNvPr id="22" name="Text 15"/>
          <p:cNvSpPr/>
          <p:nvPr/>
        </p:nvSpPr>
        <p:spPr>
          <a:xfrm>
            <a:off x="5748528" y="5081016"/>
            <a:ext cx="5742432" cy="219456"/>
          </a:xfrm>
          <a:prstGeom prst="rect">
            <a:avLst/>
          </a:prstGeom>
          <a:noFill/>
          <a:ln/>
        </p:spPr>
        <p:txBody>
          <a:bodyPr wrap="square" rtlCol="0" anchor="t"/>
          <a:lstStyle/>
          <a:p>
            <a:pPr algn="l" indent="0" marL="0">
              <a:buNone/>
            </a:pPr>
            <a:r>
              <a:rPr lang="en-US" sz="1300" b="1" dirty="0">
                <a:solidFill>
                  <a:srgbClr val="090D16"/>
                </a:solidFill>
                <a:latin typeface="Segoe UI" pitchFamily="34" charset="0"/>
                <a:ea typeface="Segoe UI" pitchFamily="34" charset="-122"/>
                <a:cs typeface="Segoe UI" pitchFamily="34" charset="-120"/>
              </a:rPr>
              <a:t>Asymmetric Digital Signatures</a:t>
            </a:r>
            <a:endParaRPr lang="en-US" sz="1300" dirty="0"/>
          </a:p>
        </p:txBody>
      </p:sp>
      <p:sp>
        <p:nvSpPr>
          <p:cNvPr id="23" name="Text 16"/>
          <p:cNvSpPr/>
          <p:nvPr/>
        </p:nvSpPr>
        <p:spPr>
          <a:xfrm>
            <a:off x="5748528" y="5327904"/>
            <a:ext cx="5742432" cy="524256"/>
          </a:xfrm>
          <a:prstGeom prst="rect">
            <a:avLst/>
          </a:prstGeom>
          <a:noFill/>
          <a:ln/>
        </p:spPr>
        <p:txBody>
          <a:bodyPr wrap="square" rtlCol="0" anchor="t"/>
          <a:lstStyle/>
          <a:p>
            <a:pPr algn="l" indent="0" marL="0">
              <a:buNone/>
            </a:pPr>
            <a:r>
              <a:rPr lang="en-US" sz="1050" dirty="0">
                <a:solidFill>
                  <a:srgbClr val="94A3B8"/>
                </a:solidFill>
                <a:latin typeface="Segoe UI" pitchFamily="34" charset="0"/>
                <a:ea typeface="Segoe UI" pitchFamily="34" charset="-122"/>
                <a:cs typeface="Segoe UI" pitchFamily="34" charset="-120"/>
              </a:rPr>
              <a:t>Elliptic Curve Cryptography (ECDSA/Ed25519) ensuring authentic transaction origination and non-repudiation across public networks.</a:t>
            </a:r>
            <a:endParaRPr lang="en-US" sz="1050" dirty="0"/>
          </a:p>
        </p:txBody>
      </p:sp>
      <p:sp>
        <p:nvSpPr>
          <p:cNvPr id="24" name="Shape 17"/>
          <p:cNvSpPr/>
          <p:nvPr/>
        </p:nvSpPr>
        <p:spPr>
          <a:xfrm>
            <a:off x="609600" y="6324600"/>
            <a:ext cx="10972800" cy="0"/>
          </a:xfrm>
          <a:prstGeom prst="line">
            <a:avLst/>
          </a:prstGeom>
          <a:noFill/>
          <a:ln w="12700">
            <a:solidFill>
              <a:srgbClr val="1E3A5F"/>
            </a:solidFill>
            <a:prstDash val="solid"/>
          </a:ln>
        </p:spPr>
      </p:sp>
      <p:sp>
        <p:nvSpPr>
          <p:cNvPr id="25" name="Text 18"/>
          <p:cNvSpPr/>
          <p:nvPr/>
        </p:nvSpPr>
        <p:spPr>
          <a:xfrm>
            <a:off x="609600" y="6397752"/>
            <a:ext cx="7680960" cy="274320"/>
          </a:xfrm>
          <a:prstGeom prst="rect">
            <a:avLst/>
          </a:prstGeom>
          <a:noFill/>
          <a:ln/>
        </p:spPr>
        <p:txBody>
          <a:bodyPr wrap="square" rtlCol="0" anchor="t"/>
          <a:lstStyle/>
          <a:p>
            <a:pPr algn="l" indent="0" marL="0">
              <a:buNone/>
            </a:pPr>
            <a:r>
              <a:rPr lang="en-US" sz="1200" dirty="0">
                <a:solidFill>
                  <a:srgbClr val="94A3B8"/>
                </a:solidFill>
                <a:latin typeface="Segoe UI" pitchFamily="34" charset="0"/>
                <a:ea typeface="Segoe UI" pitchFamily="34" charset="-122"/>
                <a:cs typeface="Segoe UI" pitchFamily="34" charset="-120"/>
              </a:rPr>
              <a:t>Cryptographic Integrity &amp; Merkle Trees</a:t>
            </a:r>
            <a:endParaRPr lang="en-US" sz="1200" dirty="0"/>
          </a:p>
        </p:txBody>
      </p:sp>
      <p:sp>
        <p:nvSpPr>
          <p:cNvPr id="26" name="Text 19"/>
          <p:cNvSpPr/>
          <p:nvPr/>
        </p:nvSpPr>
        <p:spPr>
          <a:xfrm>
            <a:off x="8290560" y="6397752"/>
            <a:ext cx="3291840" cy="274320"/>
          </a:xfrm>
          <a:prstGeom prst="rect">
            <a:avLst/>
          </a:prstGeom>
          <a:noFill/>
          <a:ln/>
        </p:spPr>
        <p:txBody>
          <a:bodyPr wrap="square" rtlCol="0" anchor="t"/>
          <a:lstStyle/>
          <a:p>
            <a:pPr algn="r" indent="0" marL="0">
              <a:buNone/>
            </a:pPr>
            <a:r>
              <a:rPr lang="en-US" sz="1200" dirty="0">
                <a:solidFill>
                  <a:srgbClr val="94A3B8"/>
                </a:solidFill>
                <a:latin typeface="Segoe UI" pitchFamily="34" charset="0"/>
                <a:ea typeface="Segoe UI" pitchFamily="34" charset="-122"/>
                <a:cs typeface="Segoe UI" pitchFamily="34" charset="-120"/>
              </a:rPr>
              <a:t>3 / 10</a:t>
            </a:r>
            <a:endParaRPr lang="en-US" sz="1200" dirty="0"/>
          </a:p>
        </p:txBody>
      </p:sp>
    </p:spTree>
  </p:cSld>
  <p:clrMapOvr>
    <a:masterClrMapping/>
  </p:clrMapOvr>
  <p:transition spd="med" advClick="1">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609600" y="438150"/>
            <a:ext cx="10972800" cy="320040"/>
          </a:xfrm>
          <a:prstGeom prst="rect">
            <a:avLst/>
          </a:prstGeom>
          <a:noFill/>
          <a:ln/>
        </p:spPr>
        <p:txBody>
          <a:bodyPr wrap="square" rtlCol="0" anchor="t"/>
          <a:lstStyle/>
          <a:p>
            <a:pPr algn="l" indent="0" marL="0">
              <a:buNone/>
            </a:pPr>
            <a:r>
              <a:rPr lang="en-US" sz="1200" b="1" dirty="0">
                <a:solidFill>
                  <a:srgbClr val="06B6D4"/>
                </a:solidFill>
                <a:latin typeface="Segoe UI" pitchFamily="34" charset="0"/>
                <a:ea typeface="Segoe UI" pitchFamily="34" charset="-122"/>
                <a:cs typeface="Segoe UI" pitchFamily="34" charset="-120"/>
              </a:rPr>
              <a:t>DISTRIBUTED TRANSACTION LIFECYCLE &amp; CONSENSUS EXECUTION</a:t>
            </a:r>
            <a:endParaRPr lang="en-US" sz="1200" dirty="0"/>
          </a:p>
        </p:txBody>
      </p:sp>
      <p:sp>
        <p:nvSpPr>
          <p:cNvPr id="4" name="Text 1"/>
          <p:cNvSpPr/>
          <p:nvPr/>
        </p:nvSpPr>
        <p:spPr>
          <a:xfrm>
            <a:off x="609600" y="785622"/>
            <a:ext cx="10972800" cy="777240"/>
          </a:xfrm>
          <a:prstGeom prst="rect">
            <a:avLst/>
          </a:prstGeom>
          <a:noFill/>
          <a:ln/>
        </p:spPr>
        <p:txBody>
          <a:bodyPr wrap="square" rtlCol="0" anchor="t"/>
          <a:lstStyle/>
          <a:p>
            <a:pPr algn="l" indent="0" marL="0">
              <a:buNone/>
            </a:pPr>
            <a:r>
              <a:rPr lang="en-US" sz="2600" b="1" dirty="0">
                <a:solidFill>
                  <a:srgbClr val="090D16"/>
                </a:solidFill>
                <a:latin typeface="Trebuchet MS" pitchFamily="34" charset="0"/>
                <a:ea typeface="Trebuchet MS" pitchFamily="34" charset="-122"/>
                <a:cs typeface="Trebuchet MS" pitchFamily="34" charset="-120"/>
              </a:rPr>
              <a:t>Distributed Transaction Lifecycle &amp; Execution</a:t>
            </a:r>
            <a:endParaRPr lang="en-US" sz="2600" dirty="0"/>
          </a:p>
        </p:txBody>
      </p:sp>
      <p:sp>
        <p:nvSpPr>
          <p:cNvPr id="5" name="Text 2"/>
          <p:cNvSpPr/>
          <p:nvPr/>
        </p:nvSpPr>
        <p:spPr>
          <a:xfrm>
            <a:off x="609600" y="1636014"/>
            <a:ext cx="10972800" cy="411480"/>
          </a:xfrm>
          <a:prstGeom prst="rect">
            <a:avLst/>
          </a:prstGeom>
          <a:noFill/>
          <a:ln/>
        </p:spPr>
        <p:txBody>
          <a:bodyPr wrap="square" rtlCol="0" anchor="t"/>
          <a:lstStyle/>
          <a:p>
            <a:pPr algn="l" indent="0" marL="0">
              <a:buNone/>
            </a:pPr>
            <a:r>
              <a:rPr lang="en-US" sz="1500" dirty="0">
                <a:solidFill>
                  <a:srgbClr val="94A3B8"/>
                </a:solidFill>
                <a:latin typeface="Segoe UI" pitchFamily="34" charset="0"/>
                <a:ea typeface="Segoe UI" pitchFamily="34" charset="-122"/>
                <a:cs typeface="Segoe UI" pitchFamily="34" charset="-120"/>
              </a:rPr>
              <a:t>Sequential verification and consensus progression from transaction origination to finalized state commit.</a:t>
            </a:r>
            <a:endParaRPr lang="en-US" sz="1500" dirty="0"/>
          </a:p>
        </p:txBody>
      </p:sp>
      <p:sp>
        <p:nvSpPr>
          <p:cNvPr id="6" name="Shape 3"/>
          <p:cNvSpPr/>
          <p:nvPr/>
        </p:nvSpPr>
        <p:spPr>
          <a:xfrm>
            <a:off x="609600" y="2176272"/>
            <a:ext cx="6035040" cy="854964"/>
          </a:xfrm>
          <a:prstGeom prst="roundRect">
            <a:avLst>
              <a:gd name="adj" fmla="val 13369"/>
            </a:avLst>
          </a:prstGeom>
          <a:solidFill>
            <a:srgbClr val="0F172A"/>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7" name="Shape 4"/>
          <p:cNvSpPr/>
          <p:nvPr/>
        </p:nvSpPr>
        <p:spPr>
          <a:xfrm>
            <a:off x="701040" y="2267712"/>
            <a:ext cx="219456" cy="219456"/>
          </a:xfrm>
          <a:prstGeom prst="ellipse">
            <a:avLst/>
          </a:prstGeom>
          <a:solidFill>
            <a:srgbClr val="0F172A"/>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0418" y="2317090"/>
            <a:ext cx="120701" cy="120701"/>
          </a:xfrm>
          <a:prstGeom prst="rect">
            <a:avLst/>
          </a:prstGeom>
        </p:spPr>
      </p:pic>
      <p:sp>
        <p:nvSpPr>
          <p:cNvPr id="9" name="Text 5"/>
          <p:cNvSpPr/>
          <p:nvPr/>
        </p:nvSpPr>
        <p:spPr>
          <a:xfrm>
            <a:off x="701040" y="2532888"/>
            <a:ext cx="5852160" cy="219456"/>
          </a:xfrm>
          <a:prstGeom prst="rect">
            <a:avLst/>
          </a:prstGeom>
          <a:noFill/>
          <a:ln/>
        </p:spPr>
        <p:txBody>
          <a:bodyPr wrap="square" rtlCol="0" anchor="t"/>
          <a:lstStyle/>
          <a:p>
            <a:pPr algn="l" indent="0" marL="0">
              <a:buNone/>
            </a:pPr>
            <a:r>
              <a:rPr lang="en-US" sz="1300" b="1" dirty="0">
                <a:solidFill>
                  <a:srgbClr val="090D16"/>
                </a:solidFill>
                <a:latin typeface="Segoe UI" pitchFamily="34" charset="0"/>
                <a:ea typeface="Segoe UI" pitchFamily="34" charset="-122"/>
                <a:cs typeface="Segoe UI" pitchFamily="34" charset="-120"/>
              </a:rPr>
              <a:t>Step 1: Cryptographic Signing</a:t>
            </a:r>
            <a:endParaRPr lang="en-US" sz="1300" dirty="0"/>
          </a:p>
        </p:txBody>
      </p:sp>
      <p:sp>
        <p:nvSpPr>
          <p:cNvPr id="10" name="Text 6"/>
          <p:cNvSpPr/>
          <p:nvPr/>
        </p:nvSpPr>
        <p:spPr>
          <a:xfrm>
            <a:off x="701040" y="2779776"/>
            <a:ext cx="5852160" cy="274320"/>
          </a:xfrm>
          <a:prstGeom prst="rect">
            <a:avLst/>
          </a:prstGeom>
          <a:noFill/>
          <a:ln/>
        </p:spPr>
        <p:txBody>
          <a:bodyPr wrap="square" rtlCol="0" anchor="t"/>
          <a:lstStyle/>
          <a:p>
            <a:pPr algn="l" indent="0" marL="0">
              <a:buNone/>
            </a:pPr>
            <a:r>
              <a:rPr lang="en-US" sz="1050" dirty="0">
                <a:solidFill>
                  <a:srgbClr val="94A3B8"/>
                </a:solidFill>
                <a:latin typeface="Segoe UI" pitchFamily="34" charset="0"/>
                <a:ea typeface="Segoe UI" pitchFamily="34" charset="-122"/>
                <a:cs typeface="Segoe UI" pitchFamily="34" charset="-120"/>
              </a:rPr>
              <a:t>User constructs transaction payload, signs with private key, and broadcasts to P2P network gossip layer.</a:t>
            </a:r>
            <a:endParaRPr lang="en-US" sz="1050" dirty="0"/>
          </a:p>
        </p:txBody>
      </p:sp>
      <p:sp>
        <p:nvSpPr>
          <p:cNvPr id="11" name="Shape 7"/>
          <p:cNvSpPr/>
          <p:nvPr/>
        </p:nvSpPr>
        <p:spPr>
          <a:xfrm>
            <a:off x="609600" y="3140964"/>
            <a:ext cx="6035040" cy="854964"/>
          </a:xfrm>
          <a:prstGeom prst="roundRect">
            <a:avLst>
              <a:gd name="adj" fmla="val 13369"/>
            </a:avLst>
          </a:prstGeom>
          <a:solidFill>
            <a:srgbClr val="0284C7"/>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12" name="Shape 8"/>
          <p:cNvSpPr/>
          <p:nvPr/>
        </p:nvSpPr>
        <p:spPr>
          <a:xfrm>
            <a:off x="701040" y="3232404"/>
            <a:ext cx="219456" cy="219456"/>
          </a:xfrm>
          <a:prstGeom prst="ellipse">
            <a:avLst/>
          </a:prstGeom>
          <a:solidFill>
            <a:srgbClr val="0F172A"/>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0418" y="3281782"/>
            <a:ext cx="120701" cy="120701"/>
          </a:xfrm>
          <a:prstGeom prst="rect">
            <a:avLst/>
          </a:prstGeom>
        </p:spPr>
      </p:pic>
      <p:sp>
        <p:nvSpPr>
          <p:cNvPr id="14" name="Text 9"/>
          <p:cNvSpPr/>
          <p:nvPr/>
        </p:nvSpPr>
        <p:spPr>
          <a:xfrm>
            <a:off x="701040" y="3497580"/>
            <a:ext cx="5852160" cy="219456"/>
          </a:xfrm>
          <a:prstGeom prst="rect">
            <a:avLst/>
          </a:prstGeom>
          <a:noFill/>
          <a:ln/>
        </p:spPr>
        <p:txBody>
          <a:bodyPr wrap="square" rtlCol="0" anchor="t"/>
          <a:lstStyle/>
          <a:p>
            <a:pPr algn="l" indent="0" marL="0">
              <a:buNone/>
            </a:pPr>
            <a:r>
              <a:rPr lang="en-US" sz="1300" b="1" dirty="0">
                <a:solidFill>
                  <a:srgbClr val="090D16"/>
                </a:solidFill>
                <a:latin typeface="Segoe UI" pitchFamily="34" charset="0"/>
                <a:ea typeface="Segoe UI" pitchFamily="34" charset="-122"/>
                <a:cs typeface="Segoe UI" pitchFamily="34" charset="-120"/>
              </a:rPr>
              <a:t>Step 2: Mempool Admission &amp; Gossip</a:t>
            </a:r>
            <a:endParaRPr lang="en-US" sz="1300" dirty="0"/>
          </a:p>
        </p:txBody>
      </p:sp>
      <p:sp>
        <p:nvSpPr>
          <p:cNvPr id="15" name="Text 10"/>
          <p:cNvSpPr/>
          <p:nvPr/>
        </p:nvSpPr>
        <p:spPr>
          <a:xfrm>
            <a:off x="701040" y="3744468"/>
            <a:ext cx="5852160" cy="274320"/>
          </a:xfrm>
          <a:prstGeom prst="rect">
            <a:avLst/>
          </a:prstGeom>
          <a:noFill/>
          <a:ln/>
        </p:spPr>
        <p:txBody>
          <a:bodyPr wrap="square" rtlCol="0" anchor="t"/>
          <a:lstStyle/>
          <a:p>
            <a:pPr algn="l" indent="0" marL="0">
              <a:buNone/>
            </a:pPr>
            <a:r>
              <a:rPr lang="en-US" sz="1050" dirty="0">
                <a:solidFill>
                  <a:srgbClr val="94A3B8"/>
                </a:solidFill>
                <a:latin typeface="Segoe UI" pitchFamily="34" charset="0"/>
                <a:ea typeface="Segoe UI" pitchFamily="34" charset="-122"/>
                <a:cs typeface="Segoe UI" pitchFamily="34" charset="-120"/>
              </a:rPr>
              <a:t>Network nodes validate signature, nonce, and gas fees before admitting transaction into the local mempool.</a:t>
            </a:r>
            <a:endParaRPr lang="en-US" sz="1050" dirty="0"/>
          </a:p>
        </p:txBody>
      </p:sp>
      <p:sp>
        <p:nvSpPr>
          <p:cNvPr id="16" name="Shape 11"/>
          <p:cNvSpPr/>
          <p:nvPr/>
        </p:nvSpPr>
        <p:spPr>
          <a:xfrm>
            <a:off x="609600" y="4105656"/>
            <a:ext cx="6035040" cy="854964"/>
          </a:xfrm>
          <a:prstGeom prst="roundRect">
            <a:avLst>
              <a:gd name="adj" fmla="val 13369"/>
            </a:avLst>
          </a:prstGeom>
          <a:solidFill>
            <a:srgbClr val="0F172A"/>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17" name="Shape 12"/>
          <p:cNvSpPr/>
          <p:nvPr/>
        </p:nvSpPr>
        <p:spPr>
          <a:xfrm>
            <a:off x="701040" y="4197096"/>
            <a:ext cx="219456" cy="219456"/>
          </a:xfrm>
          <a:prstGeom prst="ellipse">
            <a:avLst/>
          </a:prstGeom>
          <a:solidFill>
            <a:srgbClr val="0F172A"/>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0418" y="4246474"/>
            <a:ext cx="120701" cy="120701"/>
          </a:xfrm>
          <a:prstGeom prst="rect">
            <a:avLst/>
          </a:prstGeom>
        </p:spPr>
      </p:pic>
      <p:sp>
        <p:nvSpPr>
          <p:cNvPr id="19" name="Text 13"/>
          <p:cNvSpPr/>
          <p:nvPr/>
        </p:nvSpPr>
        <p:spPr>
          <a:xfrm>
            <a:off x="701040" y="4462272"/>
            <a:ext cx="5852160" cy="219456"/>
          </a:xfrm>
          <a:prstGeom prst="rect">
            <a:avLst/>
          </a:prstGeom>
          <a:noFill/>
          <a:ln/>
        </p:spPr>
        <p:txBody>
          <a:bodyPr wrap="square" rtlCol="0" anchor="t"/>
          <a:lstStyle/>
          <a:p>
            <a:pPr algn="l" indent="0" marL="0">
              <a:buNone/>
            </a:pPr>
            <a:r>
              <a:rPr lang="en-US" sz="1300" b="1" dirty="0">
                <a:solidFill>
                  <a:srgbClr val="090D16"/>
                </a:solidFill>
                <a:latin typeface="Segoe UI" pitchFamily="34" charset="0"/>
                <a:ea typeface="Segoe UI" pitchFamily="34" charset="-122"/>
                <a:cs typeface="Segoe UI" pitchFamily="34" charset="-120"/>
              </a:rPr>
              <a:t>Step 3: Block Proposal &amp; Consensus Voting</a:t>
            </a:r>
            <a:endParaRPr lang="en-US" sz="1300" dirty="0"/>
          </a:p>
        </p:txBody>
      </p:sp>
      <p:sp>
        <p:nvSpPr>
          <p:cNvPr id="20" name="Text 14"/>
          <p:cNvSpPr/>
          <p:nvPr/>
        </p:nvSpPr>
        <p:spPr>
          <a:xfrm>
            <a:off x="701040" y="4709160"/>
            <a:ext cx="5852160" cy="274320"/>
          </a:xfrm>
          <a:prstGeom prst="rect">
            <a:avLst/>
          </a:prstGeom>
          <a:noFill/>
          <a:ln/>
        </p:spPr>
        <p:txBody>
          <a:bodyPr wrap="square" rtlCol="0" anchor="t"/>
          <a:lstStyle/>
          <a:p>
            <a:pPr algn="l" indent="0" marL="0">
              <a:buNone/>
            </a:pPr>
            <a:r>
              <a:rPr lang="en-US" sz="1050" dirty="0">
                <a:solidFill>
                  <a:srgbClr val="94A3B8"/>
                </a:solidFill>
                <a:latin typeface="Segoe UI" pitchFamily="34" charset="0"/>
                <a:ea typeface="Segoe UI" pitchFamily="34" charset="-122"/>
                <a:cs typeface="Segoe UI" pitchFamily="34" charset="-120"/>
              </a:rPr>
              <a:t>Leader node bundles transactions, executes VM state changes, and submits proposed block for validator attestation.</a:t>
            </a:r>
            <a:endParaRPr lang="en-US" sz="1050" dirty="0"/>
          </a:p>
        </p:txBody>
      </p:sp>
      <p:sp>
        <p:nvSpPr>
          <p:cNvPr id="21" name="Shape 15"/>
          <p:cNvSpPr/>
          <p:nvPr/>
        </p:nvSpPr>
        <p:spPr>
          <a:xfrm>
            <a:off x="609600" y="5070348"/>
            <a:ext cx="6035040" cy="854964"/>
          </a:xfrm>
          <a:prstGeom prst="roundRect">
            <a:avLst>
              <a:gd name="adj" fmla="val 13369"/>
            </a:avLst>
          </a:prstGeom>
          <a:solidFill>
            <a:srgbClr val="0284C7"/>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22" name="Shape 16"/>
          <p:cNvSpPr/>
          <p:nvPr/>
        </p:nvSpPr>
        <p:spPr>
          <a:xfrm>
            <a:off x="701040" y="5161788"/>
            <a:ext cx="219456" cy="219456"/>
          </a:xfrm>
          <a:prstGeom prst="ellipse">
            <a:avLst/>
          </a:prstGeom>
          <a:solidFill>
            <a:srgbClr val="0F172A"/>
          </a:solidFill>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0418" y="5211166"/>
            <a:ext cx="120701" cy="120701"/>
          </a:xfrm>
          <a:prstGeom prst="rect">
            <a:avLst/>
          </a:prstGeom>
        </p:spPr>
      </p:pic>
      <p:sp>
        <p:nvSpPr>
          <p:cNvPr id="24" name="Text 17"/>
          <p:cNvSpPr/>
          <p:nvPr/>
        </p:nvSpPr>
        <p:spPr>
          <a:xfrm>
            <a:off x="701040" y="5426964"/>
            <a:ext cx="5852160" cy="219456"/>
          </a:xfrm>
          <a:prstGeom prst="rect">
            <a:avLst/>
          </a:prstGeom>
          <a:noFill/>
          <a:ln/>
        </p:spPr>
        <p:txBody>
          <a:bodyPr wrap="square" rtlCol="0" anchor="t"/>
          <a:lstStyle/>
          <a:p>
            <a:pPr algn="l" indent="0" marL="0">
              <a:buNone/>
            </a:pPr>
            <a:r>
              <a:rPr lang="en-US" sz="1300" b="1" dirty="0">
                <a:solidFill>
                  <a:srgbClr val="090D16"/>
                </a:solidFill>
                <a:latin typeface="Segoe UI" pitchFamily="34" charset="0"/>
                <a:ea typeface="Segoe UI" pitchFamily="34" charset="-122"/>
                <a:cs typeface="Segoe UI" pitchFamily="34" charset="-120"/>
              </a:rPr>
              <a:t>Step 4: State Finalization &amp; Ledger Append</a:t>
            </a:r>
            <a:endParaRPr lang="en-US" sz="1300" dirty="0"/>
          </a:p>
        </p:txBody>
      </p:sp>
      <p:sp>
        <p:nvSpPr>
          <p:cNvPr id="25" name="Text 18"/>
          <p:cNvSpPr/>
          <p:nvPr/>
        </p:nvSpPr>
        <p:spPr>
          <a:xfrm>
            <a:off x="701040" y="5673852"/>
            <a:ext cx="5852160" cy="274320"/>
          </a:xfrm>
          <a:prstGeom prst="rect">
            <a:avLst/>
          </a:prstGeom>
          <a:noFill/>
          <a:ln/>
        </p:spPr>
        <p:txBody>
          <a:bodyPr wrap="square" rtlCol="0" anchor="t"/>
          <a:lstStyle/>
          <a:p>
            <a:pPr algn="l" indent="0" marL="0">
              <a:buNone/>
            </a:pPr>
            <a:r>
              <a:rPr lang="en-US" sz="1050" dirty="0">
                <a:solidFill>
                  <a:srgbClr val="94A3B8"/>
                </a:solidFill>
                <a:latin typeface="Segoe UI" pitchFamily="34" charset="0"/>
                <a:ea typeface="Segoe UI" pitchFamily="34" charset="-122"/>
                <a:cs typeface="Segoe UI" pitchFamily="34" charset="-120"/>
              </a:rPr>
              <a:t>Consensus reaches threshold finality, committing state changes and immutably appending the block.</a:t>
            </a:r>
            <a:endParaRPr lang="en-US" sz="1050" dirty="0"/>
          </a:p>
        </p:txBody>
      </p:sp>
      <p:sp>
        <p:nvSpPr>
          <p:cNvPr id="26" name="Shape 19"/>
          <p:cNvSpPr/>
          <p:nvPr/>
        </p:nvSpPr>
        <p:spPr>
          <a:xfrm>
            <a:off x="7193280" y="2176272"/>
            <a:ext cx="4389120" cy="3749040"/>
          </a:xfrm>
          <a:prstGeom prst="roundRect">
            <a:avLst>
              <a:gd name="adj" fmla="val 3049"/>
            </a:avLst>
          </a:prstGeom>
          <a:solidFill>
            <a:srgbClr val="1E293B"/>
          </a:solidFill>
          <a:ln w="12700">
            <a:solidFill>
              <a:srgbClr val="1E3A5F"/>
            </a:solidFill>
            <a:prstDash val="solid"/>
          </a:ln>
          <a:effectLst>
            <a:outerShdw sx="100000" sy="100000" kx="0" ky="0" algn="bl" rotWithShape="0" blurRad="50800" dist="25400" dir="16200000">
              <a:srgbClr val="073B3A">
                <a:alpha val="8000"/>
              </a:srgbClr>
            </a:outerShdw>
          </a:effectLst>
        </p:spPr>
      </p:sp>
      <p:pic>
        <p:nvPicPr>
          <p:cNvPr id="27" name="Image 4" descr="C:\Projects\Presentation-Slides\ppt-generator\work\assets\ai_1786732982240_sb9fh9.png">    </p:cNvPr>
          <p:cNvPicPr>
            <a:picLocks noChangeAspect="1"/>
          </p:cNvPicPr>
          <p:nvPr/>
        </p:nvPicPr>
        <p:blipFill>
          <a:blip r:embed="rId9"/>
          <a:srcRect l="0" r="0" t="0" b="0"/>
          <a:stretch/>
        </p:blipFill>
        <p:spPr>
          <a:xfrm>
            <a:off x="7193280" y="2176272"/>
            <a:ext cx="4389120" cy="3749040"/>
          </a:xfrm>
          <a:prstGeom prst="rect">
            <a:avLst/>
          </a:prstGeom>
        </p:spPr>
      </p:pic>
      <p:sp>
        <p:nvSpPr>
          <p:cNvPr id="28" name="Shape 20"/>
          <p:cNvSpPr/>
          <p:nvPr/>
        </p:nvSpPr>
        <p:spPr>
          <a:xfrm>
            <a:off x="609600" y="6324600"/>
            <a:ext cx="10972800" cy="0"/>
          </a:xfrm>
          <a:prstGeom prst="line">
            <a:avLst/>
          </a:prstGeom>
          <a:noFill/>
          <a:ln w="12700">
            <a:solidFill>
              <a:srgbClr val="1E3A5F"/>
            </a:solidFill>
            <a:prstDash val="solid"/>
          </a:ln>
        </p:spPr>
      </p:sp>
      <p:sp>
        <p:nvSpPr>
          <p:cNvPr id="29" name="Text 21"/>
          <p:cNvSpPr/>
          <p:nvPr/>
        </p:nvSpPr>
        <p:spPr>
          <a:xfrm>
            <a:off x="609600" y="6397752"/>
            <a:ext cx="7680960" cy="274320"/>
          </a:xfrm>
          <a:prstGeom prst="rect">
            <a:avLst/>
          </a:prstGeom>
          <a:noFill/>
          <a:ln/>
        </p:spPr>
        <p:txBody>
          <a:bodyPr wrap="square" rtlCol="0" anchor="t"/>
          <a:lstStyle/>
          <a:p>
            <a:pPr algn="l" indent="0" marL="0">
              <a:buNone/>
            </a:pPr>
            <a:r>
              <a:rPr lang="en-US" sz="1200" dirty="0">
                <a:solidFill>
                  <a:srgbClr val="94A3B8"/>
                </a:solidFill>
                <a:latin typeface="Segoe UI" pitchFamily="34" charset="0"/>
                <a:ea typeface="Segoe UI" pitchFamily="34" charset="-122"/>
                <a:cs typeface="Segoe UI" pitchFamily="34" charset="-120"/>
              </a:rPr>
              <a:t>Distributed Transaction Lifecycle &amp; Execution</a:t>
            </a:r>
            <a:endParaRPr lang="en-US" sz="1200" dirty="0"/>
          </a:p>
        </p:txBody>
      </p:sp>
      <p:sp>
        <p:nvSpPr>
          <p:cNvPr id="30" name="Text 22"/>
          <p:cNvSpPr/>
          <p:nvPr/>
        </p:nvSpPr>
        <p:spPr>
          <a:xfrm>
            <a:off x="8290560" y="6397752"/>
            <a:ext cx="3291840" cy="274320"/>
          </a:xfrm>
          <a:prstGeom prst="rect">
            <a:avLst/>
          </a:prstGeom>
          <a:noFill/>
          <a:ln/>
        </p:spPr>
        <p:txBody>
          <a:bodyPr wrap="square" rtlCol="0" anchor="t"/>
          <a:lstStyle/>
          <a:p>
            <a:pPr algn="r" indent="0" marL="0">
              <a:buNone/>
            </a:pPr>
            <a:r>
              <a:rPr lang="en-US" sz="1200" dirty="0">
                <a:solidFill>
                  <a:srgbClr val="94A3B8"/>
                </a:solidFill>
                <a:latin typeface="Segoe UI" pitchFamily="34" charset="0"/>
                <a:ea typeface="Segoe UI" pitchFamily="34" charset="-122"/>
                <a:cs typeface="Segoe UI" pitchFamily="34" charset="-120"/>
              </a:rPr>
              <a:t>4 / 10</a:t>
            </a:r>
            <a:endParaRPr lang="en-US" sz="1200" dirty="0"/>
          </a:p>
        </p:txBody>
      </p:sp>
    </p:spTree>
  </p:cSld>
  <p:clrMapOvr>
    <a:masterClrMapping/>
  </p:clrMapOvr>
  <p:transition spd="med" advClick="1">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609600" y="438150"/>
            <a:ext cx="10972800" cy="320040"/>
          </a:xfrm>
          <a:prstGeom prst="rect">
            <a:avLst/>
          </a:prstGeom>
          <a:noFill/>
          <a:ln/>
        </p:spPr>
        <p:txBody>
          <a:bodyPr wrap="square" rtlCol="0" anchor="t"/>
          <a:lstStyle/>
          <a:p>
            <a:pPr algn="l" indent="0" marL="0">
              <a:buNone/>
            </a:pPr>
            <a:r>
              <a:rPr lang="en-US" sz="1200" b="1" dirty="0">
                <a:solidFill>
                  <a:srgbClr val="06B6D4"/>
                </a:solidFill>
                <a:latin typeface="Segoe UI" pitchFamily="34" charset="0"/>
                <a:ea typeface="Segoe UI" pitchFamily="34" charset="-122"/>
                <a:cs typeface="Segoe UI" pitchFamily="34" charset="-120"/>
              </a:rPr>
              <a:t>PROOF OF WORK VS PROOF OF STAKE CONSENSUS</a:t>
            </a:r>
            <a:endParaRPr lang="en-US" sz="1200" dirty="0"/>
          </a:p>
        </p:txBody>
      </p:sp>
      <p:sp>
        <p:nvSpPr>
          <p:cNvPr id="4" name="Text 1"/>
          <p:cNvSpPr/>
          <p:nvPr/>
        </p:nvSpPr>
        <p:spPr>
          <a:xfrm>
            <a:off x="609600" y="785622"/>
            <a:ext cx="10972800" cy="777240"/>
          </a:xfrm>
          <a:prstGeom prst="rect">
            <a:avLst/>
          </a:prstGeom>
          <a:noFill/>
          <a:ln/>
        </p:spPr>
        <p:txBody>
          <a:bodyPr wrap="square" rtlCol="0" anchor="t"/>
          <a:lstStyle/>
          <a:p>
            <a:pPr algn="l" indent="0" marL="0">
              <a:buNone/>
            </a:pPr>
            <a:r>
              <a:rPr lang="en-US" sz="2600" b="1" dirty="0">
                <a:solidFill>
                  <a:srgbClr val="090D16"/>
                </a:solidFill>
                <a:latin typeface="Trebuchet MS" pitchFamily="34" charset="0"/>
                <a:ea typeface="Trebuchet MS" pitchFamily="34" charset="-122"/>
                <a:cs typeface="Trebuchet MS" pitchFamily="34" charset="-120"/>
              </a:rPr>
              <a:t>Proof of Work (PoW) vs Proof of Stake (PoS)</a:t>
            </a:r>
            <a:endParaRPr lang="en-US" sz="2600" dirty="0"/>
          </a:p>
        </p:txBody>
      </p:sp>
      <p:sp>
        <p:nvSpPr>
          <p:cNvPr id="5" name="Text 2"/>
          <p:cNvSpPr/>
          <p:nvPr/>
        </p:nvSpPr>
        <p:spPr>
          <a:xfrm>
            <a:off x="609600" y="1636014"/>
            <a:ext cx="10972800" cy="411480"/>
          </a:xfrm>
          <a:prstGeom prst="rect">
            <a:avLst/>
          </a:prstGeom>
          <a:noFill/>
          <a:ln/>
        </p:spPr>
        <p:txBody>
          <a:bodyPr wrap="square" rtlCol="0" anchor="t"/>
          <a:lstStyle/>
          <a:p>
            <a:pPr algn="l" indent="0" marL="0">
              <a:buNone/>
            </a:pPr>
            <a:r>
              <a:rPr lang="en-US" sz="1500" dirty="0">
                <a:solidFill>
                  <a:srgbClr val="94A3B8"/>
                </a:solidFill>
                <a:latin typeface="Segoe UI" pitchFamily="34" charset="0"/>
                <a:ea typeface="Segoe UI" pitchFamily="34" charset="-122"/>
                <a:cs typeface="Segoe UI" pitchFamily="34" charset="-120"/>
              </a:rPr>
              <a:t>Contrasting computational resource consensus with economic validator staking paradigms.</a:t>
            </a:r>
            <a:endParaRPr lang="en-US" sz="1500" dirty="0"/>
          </a:p>
        </p:txBody>
      </p:sp>
      <p:sp>
        <p:nvSpPr>
          <p:cNvPr id="6" name="Text 3"/>
          <p:cNvSpPr/>
          <p:nvPr/>
        </p:nvSpPr>
        <p:spPr>
          <a:xfrm>
            <a:off x="609600" y="2176272"/>
            <a:ext cx="5303520" cy="365760"/>
          </a:xfrm>
          <a:prstGeom prst="rect">
            <a:avLst/>
          </a:prstGeom>
          <a:noFill/>
          <a:ln/>
        </p:spPr>
        <p:txBody>
          <a:bodyPr wrap="square" rtlCol="0" anchor="t"/>
          <a:lstStyle/>
          <a:p>
            <a:pPr algn="l" indent="0" marL="0">
              <a:buNone/>
            </a:pPr>
            <a:r>
              <a:rPr lang="en-US" sz="1800" b="1" dirty="0">
                <a:solidFill>
                  <a:srgbClr val="10B981"/>
                </a:solidFill>
                <a:latin typeface="Segoe UI" pitchFamily="34" charset="0"/>
                <a:ea typeface="Segoe UI" pitchFamily="34" charset="-122"/>
                <a:cs typeface="Segoe UI" pitchFamily="34" charset="-120"/>
              </a:rPr>
              <a:t>Proof of Work (PoW) — e.g., Bitcoin</a:t>
            </a:r>
            <a:endParaRPr lang="en-US" sz="1800" dirty="0"/>
          </a:p>
        </p:txBody>
      </p:sp>
      <p:sp>
        <p:nvSpPr>
          <p:cNvPr id="7" name="Shape 4"/>
          <p:cNvSpPr/>
          <p:nvPr/>
        </p:nvSpPr>
        <p:spPr>
          <a:xfrm>
            <a:off x="609600" y="2578608"/>
            <a:ext cx="5303520" cy="3291840"/>
          </a:xfrm>
          <a:prstGeom prst="roundRect">
            <a:avLst>
              <a:gd name="adj" fmla="val 3472"/>
            </a:avLst>
          </a:prstGeom>
          <a:solidFill>
            <a:srgbClr val="F8FAFC"/>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8" name="Text 5"/>
          <p:cNvSpPr/>
          <p:nvPr/>
        </p:nvSpPr>
        <p:spPr>
          <a:xfrm>
            <a:off x="792480" y="2761488"/>
            <a:ext cx="4937760" cy="2926080"/>
          </a:xfrm>
          <a:prstGeom prst="rect">
            <a:avLst/>
          </a:prstGeom>
          <a:noFill/>
          <a:ln/>
        </p:spPr>
        <p:txBody>
          <a:bodyPr wrap="square" rtlCol="0" anchor="t"/>
          <a:lstStyle/>
          <a:p>
            <a:pPr algn="l" marL="342900" indent="-342900">
              <a:buSzPct val="100000"/>
              <a:buChar char="•"/>
            </a:pPr>
            <a:r>
              <a:rPr lang="en-US" sz="1300" dirty="0">
                <a:solidFill>
                  <a:srgbClr val="090D16"/>
                </a:solidFill>
                <a:latin typeface="Segoe UI" pitchFamily="34" charset="0"/>
                <a:ea typeface="Segoe UI" pitchFamily="34" charset="-122"/>
                <a:cs typeface="Segoe UI" pitchFamily="34" charset="-120"/>
              </a:rPr>
              <a:t>Security anchored in thermodynamic energy expenditure and ASIC hash computation.
</a:t>
            </a:r>
            <a:pPr algn="l" marL="342900" indent="-342900">
              <a:buSzPct val="100000"/>
              <a:buChar char="•"/>
            </a:pPr>
            <a:r>
              <a:rPr lang="en-US" sz="1300" dirty="0">
                <a:solidFill>
                  <a:srgbClr val="090D16"/>
                </a:solidFill>
                <a:latin typeface="Segoe UI" pitchFamily="34" charset="0"/>
                <a:ea typeface="Segoe UI" pitchFamily="34" charset="-122"/>
                <a:cs typeface="Segoe UI" pitchFamily="34" charset="-120"/>
              </a:rPr>
              <a:t>Probabilistic finality via Nakamoto longest-chain rule (51% attack threshold).
</a:t>
            </a:r>
            <a:pPr algn="l" marL="342900" indent="-342900">
              <a:buSzPct val="100000"/>
              <a:buChar char="•"/>
            </a:pPr>
            <a:r>
              <a:rPr lang="en-US" sz="1300" dirty="0">
                <a:solidFill>
                  <a:srgbClr val="090D16"/>
                </a:solidFill>
                <a:latin typeface="Segoe UI" pitchFamily="34" charset="0"/>
                <a:ea typeface="Segoe UI" pitchFamily="34" charset="-122"/>
                <a:cs typeface="Segoe UI" pitchFamily="34" charset="-120"/>
              </a:rPr>
              <a:t>High environmental energy footprint (~120 TWh/year annualized consumption).
</a:t>
            </a:r>
            <a:pPr algn="l" marL="342900" indent="-342900">
              <a:buSzPct val="100000"/>
              <a:buChar char="•"/>
            </a:pPr>
            <a:r>
              <a:rPr lang="en-US" sz="1300" dirty="0">
                <a:solidFill>
                  <a:srgbClr val="090D16"/>
                </a:solidFill>
                <a:latin typeface="Segoe UI" pitchFamily="34" charset="0"/>
                <a:ea typeface="Segoe UI" pitchFamily="34" charset="-122"/>
                <a:cs typeface="Segoe UI" pitchFamily="34" charset="-120"/>
              </a:rPr>
              <a:t>Hardware-intensive mining centralization dynamics.
</a:t>
            </a:r>
            <a:endParaRPr lang="en-US" sz="1300" dirty="0"/>
          </a:p>
        </p:txBody>
      </p:sp>
      <p:sp>
        <p:nvSpPr>
          <p:cNvPr id="9" name="Text 6"/>
          <p:cNvSpPr/>
          <p:nvPr/>
        </p:nvSpPr>
        <p:spPr>
          <a:xfrm>
            <a:off x="6278880" y="2176272"/>
            <a:ext cx="5303520" cy="365760"/>
          </a:xfrm>
          <a:prstGeom prst="rect">
            <a:avLst/>
          </a:prstGeom>
          <a:noFill/>
          <a:ln/>
        </p:spPr>
        <p:txBody>
          <a:bodyPr wrap="square" rtlCol="0" anchor="t"/>
          <a:lstStyle/>
          <a:p>
            <a:pPr algn="l" indent="0" marL="0">
              <a:buNone/>
            </a:pPr>
            <a:r>
              <a:rPr lang="en-US" sz="1800" b="1" dirty="0">
                <a:solidFill>
                  <a:srgbClr val="3B82F6"/>
                </a:solidFill>
                <a:latin typeface="Segoe UI" pitchFamily="34" charset="0"/>
                <a:ea typeface="Segoe UI" pitchFamily="34" charset="-122"/>
                <a:cs typeface="Segoe UI" pitchFamily="34" charset="-120"/>
              </a:rPr>
              <a:t>Proof of Stake (PoS) — e.g., Ethereum</a:t>
            </a:r>
            <a:endParaRPr lang="en-US" sz="1800" dirty="0"/>
          </a:p>
        </p:txBody>
      </p:sp>
      <p:sp>
        <p:nvSpPr>
          <p:cNvPr id="10" name="Shape 7"/>
          <p:cNvSpPr/>
          <p:nvPr/>
        </p:nvSpPr>
        <p:spPr>
          <a:xfrm>
            <a:off x="6278880" y="2578608"/>
            <a:ext cx="5303520" cy="3291840"/>
          </a:xfrm>
          <a:prstGeom prst="roundRect">
            <a:avLst>
              <a:gd name="adj" fmla="val 3472"/>
            </a:avLst>
          </a:prstGeom>
          <a:solidFill>
            <a:srgbClr val="F8FAFC"/>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11" name="Text 8"/>
          <p:cNvSpPr/>
          <p:nvPr/>
        </p:nvSpPr>
        <p:spPr>
          <a:xfrm>
            <a:off x="6461760" y="2761488"/>
            <a:ext cx="4937760" cy="2926080"/>
          </a:xfrm>
          <a:prstGeom prst="rect">
            <a:avLst/>
          </a:prstGeom>
          <a:noFill/>
          <a:ln/>
        </p:spPr>
        <p:txBody>
          <a:bodyPr wrap="square" rtlCol="0" anchor="t"/>
          <a:lstStyle/>
          <a:p>
            <a:pPr algn="l" marL="342900" indent="-342900">
              <a:buSzPct val="100000"/>
              <a:buChar char="•"/>
            </a:pPr>
            <a:r>
              <a:rPr lang="en-US" sz="1300" dirty="0">
                <a:solidFill>
                  <a:srgbClr val="090D16"/>
                </a:solidFill>
                <a:latin typeface="Segoe UI" pitchFamily="34" charset="0"/>
                <a:ea typeface="Segoe UI" pitchFamily="34" charset="-122"/>
                <a:cs typeface="Segoe UI" pitchFamily="34" charset="-120"/>
              </a:rPr>
              <a:t>Security anchored in economic value bonding (32 ETH minimum validator stake).
</a:t>
            </a:r>
            <a:pPr algn="l" marL="342900" indent="-342900">
              <a:buSzPct val="100000"/>
              <a:buChar char="•"/>
            </a:pPr>
            <a:r>
              <a:rPr lang="en-US" sz="1300" dirty="0">
                <a:solidFill>
                  <a:srgbClr val="090D16"/>
                </a:solidFill>
                <a:latin typeface="Segoe UI" pitchFamily="34" charset="0"/>
                <a:ea typeface="Segoe UI" pitchFamily="34" charset="-122"/>
                <a:cs typeface="Segoe UI" pitchFamily="34" charset="-120"/>
              </a:rPr>
              <a:t>Deterministic Casper/Gasper finality with slashing penalties for dishonest validators.
</a:t>
            </a:r>
            <a:pPr algn="l" marL="342900" indent="-342900">
              <a:buSzPct val="100000"/>
              <a:buChar char="•"/>
            </a:pPr>
            <a:r>
              <a:rPr lang="en-US" sz="1300" dirty="0">
                <a:solidFill>
                  <a:srgbClr val="090D16"/>
                </a:solidFill>
                <a:latin typeface="Segoe UI" pitchFamily="34" charset="0"/>
                <a:ea typeface="Segoe UI" pitchFamily="34" charset="-122"/>
                <a:cs typeface="Segoe UI" pitchFamily="34" charset="-120"/>
              </a:rPr>
              <a:t>99.95% lower energy consumption compared to computational mining.
</a:t>
            </a:r>
            <a:pPr algn="l" marL="342900" indent="-342900">
              <a:buSzPct val="100000"/>
              <a:buChar char="•"/>
            </a:pPr>
            <a:r>
              <a:rPr lang="en-US" sz="1300" dirty="0">
                <a:solidFill>
                  <a:srgbClr val="090D16"/>
                </a:solidFill>
                <a:latin typeface="Segoe UI" pitchFamily="34" charset="0"/>
                <a:ea typeface="Segoe UI" pitchFamily="34" charset="-122"/>
                <a:cs typeface="Segoe UI" pitchFamily="34" charset="-120"/>
              </a:rPr>
              <a:t>Enables efficient Layer-2 data availability sampling and sharding.
</a:t>
            </a:r>
            <a:endParaRPr lang="en-US" sz="1300" dirty="0"/>
          </a:p>
        </p:txBody>
      </p:sp>
      <p:sp>
        <p:nvSpPr>
          <p:cNvPr id="12" name="Shape 9"/>
          <p:cNvSpPr/>
          <p:nvPr/>
        </p:nvSpPr>
        <p:spPr>
          <a:xfrm>
            <a:off x="609600" y="6324600"/>
            <a:ext cx="10972800" cy="0"/>
          </a:xfrm>
          <a:prstGeom prst="line">
            <a:avLst/>
          </a:prstGeom>
          <a:noFill/>
          <a:ln w="12700">
            <a:solidFill>
              <a:srgbClr val="1E3A5F"/>
            </a:solidFill>
            <a:prstDash val="solid"/>
          </a:ln>
        </p:spPr>
      </p:sp>
      <p:sp>
        <p:nvSpPr>
          <p:cNvPr id="13" name="Text 10"/>
          <p:cNvSpPr/>
          <p:nvPr/>
        </p:nvSpPr>
        <p:spPr>
          <a:xfrm>
            <a:off x="609600" y="6397752"/>
            <a:ext cx="7680960" cy="274320"/>
          </a:xfrm>
          <a:prstGeom prst="rect">
            <a:avLst/>
          </a:prstGeom>
          <a:noFill/>
          <a:ln/>
        </p:spPr>
        <p:txBody>
          <a:bodyPr wrap="square" rtlCol="0" anchor="t"/>
          <a:lstStyle/>
          <a:p>
            <a:pPr algn="l" indent="0" marL="0">
              <a:buNone/>
            </a:pPr>
            <a:r>
              <a:rPr lang="en-US" sz="1200" dirty="0">
                <a:solidFill>
                  <a:srgbClr val="94A3B8"/>
                </a:solidFill>
                <a:latin typeface="Segoe UI" pitchFamily="34" charset="0"/>
                <a:ea typeface="Segoe UI" pitchFamily="34" charset="-122"/>
                <a:cs typeface="Segoe UI" pitchFamily="34" charset="-120"/>
              </a:rPr>
              <a:t>Proof of Work (PoW) vs Proof of Stake (PoS)</a:t>
            </a:r>
            <a:endParaRPr lang="en-US" sz="1200" dirty="0"/>
          </a:p>
        </p:txBody>
      </p:sp>
      <p:sp>
        <p:nvSpPr>
          <p:cNvPr id="14" name="Text 11"/>
          <p:cNvSpPr/>
          <p:nvPr/>
        </p:nvSpPr>
        <p:spPr>
          <a:xfrm>
            <a:off x="8290560" y="6397752"/>
            <a:ext cx="3291840" cy="274320"/>
          </a:xfrm>
          <a:prstGeom prst="rect">
            <a:avLst/>
          </a:prstGeom>
          <a:noFill/>
          <a:ln/>
        </p:spPr>
        <p:txBody>
          <a:bodyPr wrap="square" rtlCol="0" anchor="t"/>
          <a:lstStyle/>
          <a:p>
            <a:pPr algn="r" indent="0" marL="0">
              <a:buNone/>
            </a:pPr>
            <a:r>
              <a:rPr lang="en-US" sz="1200" dirty="0">
                <a:solidFill>
                  <a:srgbClr val="94A3B8"/>
                </a:solidFill>
                <a:latin typeface="Segoe UI" pitchFamily="34" charset="0"/>
                <a:ea typeface="Segoe UI" pitchFamily="34" charset="-122"/>
                <a:cs typeface="Segoe UI" pitchFamily="34" charset="-120"/>
              </a:rPr>
              <a:t>5 / 10</a:t>
            </a:r>
            <a:endParaRPr lang="en-US" sz="1200" dirty="0"/>
          </a:p>
        </p:txBody>
      </p:sp>
    </p:spTree>
  </p:cSld>
  <p:clrMapOvr>
    <a:masterClrMapping/>
  </p:clrMapOvr>
  <p:transition spd="med" advClick="1">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609600" y="438150"/>
            <a:ext cx="10972800" cy="320040"/>
          </a:xfrm>
          <a:prstGeom prst="rect">
            <a:avLst/>
          </a:prstGeom>
          <a:noFill/>
          <a:ln/>
        </p:spPr>
        <p:txBody>
          <a:bodyPr wrap="square" rtlCol="0" anchor="t"/>
          <a:lstStyle/>
          <a:p>
            <a:pPr algn="l" indent="0" marL="0">
              <a:buNone/>
            </a:pPr>
            <a:r>
              <a:rPr lang="en-US" sz="1200" b="1" dirty="0">
                <a:solidFill>
                  <a:srgbClr val="06B6D4"/>
                </a:solidFill>
                <a:latin typeface="Segoe UI" pitchFamily="34" charset="0"/>
                <a:ea typeface="Segoe UI" pitchFamily="34" charset="-122"/>
                <a:cs typeface="Segoe UI" pitchFamily="34" charset="-120"/>
              </a:rPr>
              <a:t>EMPIRICAL NETWORK METRICS &amp; SCALABILITY AUDITS</a:t>
            </a:r>
            <a:endParaRPr lang="en-US" sz="1200" dirty="0"/>
          </a:p>
        </p:txBody>
      </p:sp>
      <p:sp>
        <p:nvSpPr>
          <p:cNvPr id="4" name="Text 1"/>
          <p:cNvSpPr/>
          <p:nvPr/>
        </p:nvSpPr>
        <p:spPr>
          <a:xfrm>
            <a:off x="609600" y="785622"/>
            <a:ext cx="10972800" cy="777240"/>
          </a:xfrm>
          <a:prstGeom prst="rect">
            <a:avLst/>
          </a:prstGeom>
          <a:noFill/>
          <a:ln/>
        </p:spPr>
        <p:txBody>
          <a:bodyPr wrap="square" rtlCol="0" anchor="t"/>
          <a:lstStyle/>
          <a:p>
            <a:pPr algn="l" indent="0" marL="0">
              <a:buNone/>
            </a:pPr>
            <a:r>
              <a:rPr lang="en-US" sz="2600" b="1" dirty="0">
                <a:solidFill>
                  <a:srgbClr val="090D16"/>
                </a:solidFill>
                <a:latin typeface="Trebuchet MS" pitchFamily="34" charset="0"/>
                <a:ea typeface="Trebuchet MS" pitchFamily="34" charset="-122"/>
                <a:cs typeface="Trebuchet MS" pitchFamily="34" charset="-120"/>
              </a:rPr>
              <a:t>Empirical Network Metrics &amp; Scalability Benchmarks</a:t>
            </a:r>
            <a:endParaRPr lang="en-US" sz="2600" dirty="0"/>
          </a:p>
        </p:txBody>
      </p:sp>
      <p:sp>
        <p:nvSpPr>
          <p:cNvPr id="5" name="Text 2"/>
          <p:cNvSpPr/>
          <p:nvPr/>
        </p:nvSpPr>
        <p:spPr>
          <a:xfrm>
            <a:off x="609600" y="1636014"/>
            <a:ext cx="10972800" cy="411480"/>
          </a:xfrm>
          <a:prstGeom prst="rect">
            <a:avLst/>
          </a:prstGeom>
          <a:noFill/>
          <a:ln/>
        </p:spPr>
        <p:txBody>
          <a:bodyPr wrap="square" rtlCol="0" anchor="t"/>
          <a:lstStyle/>
          <a:p>
            <a:pPr algn="l" indent="0" marL="0">
              <a:buNone/>
            </a:pPr>
            <a:r>
              <a:rPr lang="en-US" sz="1500" dirty="0">
                <a:solidFill>
                  <a:srgbClr val="94A3B8"/>
                </a:solidFill>
                <a:latin typeface="Segoe UI" pitchFamily="34" charset="0"/>
                <a:ea typeface="Segoe UI" pitchFamily="34" charset="-122"/>
                <a:cs typeface="Segoe UI" pitchFamily="34" charset="-120"/>
              </a:rPr>
              <a:t>Quantitative performance metrics across decentralized consensus and Layer-2 execution networks.</a:t>
            </a:r>
            <a:endParaRPr lang="en-US" sz="1500" dirty="0"/>
          </a:p>
        </p:txBody>
      </p:sp>
      <p:sp>
        <p:nvSpPr>
          <p:cNvPr id="6" name="Shape 3"/>
          <p:cNvSpPr/>
          <p:nvPr/>
        </p:nvSpPr>
        <p:spPr>
          <a:xfrm>
            <a:off x="609600" y="2176272"/>
            <a:ext cx="6035040" cy="822960"/>
          </a:xfrm>
          <a:prstGeom prst="roundRect">
            <a:avLst>
              <a:gd name="adj" fmla="val 13889"/>
            </a:avLst>
          </a:prstGeom>
          <a:solidFill>
            <a:srgbClr val="0F172A"/>
          </a:solidFill>
          <a:ln w="12700">
            <a:solidFill>
              <a:srgbClr val="1E3A5F"/>
            </a:solidFill>
            <a:prstDash val="solid"/>
          </a:ln>
          <a:effectLst>
            <a:outerShdw sx="100000" sy="100000" kx="0" ky="0" algn="bl" rotWithShape="0" blurRad="50800" dist="25400" dir="16200000">
              <a:srgbClr val="073B3A">
                <a:alpha val="8000"/>
              </a:srgbClr>
            </a:outerShdw>
          </a:effectLst>
        </p:spPr>
      </p:sp>
      <p:sp>
        <p:nvSpPr>
          <p:cNvPr id="7" name="Text 4"/>
          <p:cNvSpPr/>
          <p:nvPr/>
        </p:nvSpPr>
        <p:spPr>
          <a:xfrm>
            <a:off x="755904" y="2322576"/>
            <a:ext cx="5742432" cy="548640"/>
          </a:xfrm>
          <a:prstGeom prst="rect">
            <a:avLst/>
          </a:prstGeom>
          <a:noFill/>
          <a:ln/>
        </p:spPr>
        <p:txBody>
          <a:bodyPr wrap="square" rtlCol="0" anchor="ctr"/>
          <a:lstStyle/>
          <a:p>
            <a:pPr algn="l" indent="0" marL="0">
              <a:buNone/>
            </a:pPr>
            <a:r>
              <a:rPr lang="en-US" sz="3600" b="1" dirty="0">
                <a:solidFill>
                  <a:srgbClr val="06B6D4"/>
                </a:solidFill>
                <a:latin typeface="Trebuchet MS" pitchFamily="34" charset="0"/>
                <a:ea typeface="Trebuchet MS" pitchFamily="34" charset="-122"/>
                <a:cs typeface="Trebuchet MS" pitchFamily="34" charset="-120"/>
              </a:rPr>
              <a:t>100,000+</a:t>
            </a:r>
            <a:endParaRPr lang="en-US" sz="3600" dirty="0"/>
          </a:p>
        </p:txBody>
      </p:sp>
      <p:sp>
        <p:nvSpPr>
          <p:cNvPr id="8" name="Text 5"/>
          <p:cNvSpPr/>
          <p:nvPr/>
        </p:nvSpPr>
        <p:spPr>
          <a:xfrm>
            <a:off x="755904" y="2907792"/>
            <a:ext cx="5742432" cy="438912"/>
          </a:xfrm>
          <a:prstGeom prst="rect">
            <a:avLst/>
          </a:prstGeom>
          <a:noFill/>
          <a:ln/>
        </p:spPr>
        <p:txBody>
          <a:bodyPr wrap="square" rtlCol="0" anchor="t"/>
          <a:lstStyle/>
          <a:p>
            <a:pPr algn="l" indent="0" marL="0">
              <a:buNone/>
            </a:pPr>
            <a:r>
              <a:rPr lang="en-US" sz="1400" b="1" dirty="0">
                <a:solidFill>
                  <a:srgbClr val="090D16"/>
                </a:solidFill>
                <a:latin typeface="Segoe UI" pitchFamily="34" charset="0"/>
                <a:ea typeface="Segoe UI" pitchFamily="34" charset="-122"/>
                <a:cs typeface="Segoe UI" pitchFamily="34" charset="-120"/>
              </a:rPr>
              <a:t>Target Layer-2 Rollup TPS</a:t>
            </a:r>
            <a:endParaRPr lang="en-US" sz="1400" dirty="0"/>
          </a:p>
        </p:txBody>
      </p:sp>
      <p:sp>
        <p:nvSpPr>
          <p:cNvPr id="9" name="Text 6"/>
          <p:cNvSpPr/>
          <p:nvPr/>
        </p:nvSpPr>
        <p:spPr>
          <a:xfrm>
            <a:off x="755904" y="3383280"/>
            <a:ext cx="5742432" cy="365760"/>
          </a:xfrm>
          <a:prstGeom prst="rect">
            <a:avLst/>
          </a:prstGeom>
          <a:noFill/>
          <a:ln/>
        </p:spPr>
        <p:txBody>
          <a:bodyPr wrap="square" rtlCol="0" anchor="t"/>
          <a:lstStyle/>
          <a:p>
            <a:pPr algn="l" indent="0" marL="0">
              <a:buNone/>
            </a:pPr>
            <a:r>
              <a:rPr lang="en-US" sz="1100" dirty="0">
                <a:solidFill>
                  <a:srgbClr val="94A3B8"/>
                </a:solidFill>
                <a:latin typeface="Segoe UI" pitchFamily="34" charset="0"/>
                <a:ea typeface="Segoe UI" pitchFamily="34" charset="-122"/>
                <a:cs typeface="Segoe UI" pitchFamily="34" charset="-120"/>
              </a:rPr>
              <a:t>Aggregate transaction throughput enabled by Optimistic and ZK-Rollup batching pipelines.</a:t>
            </a:r>
            <a:endParaRPr lang="en-US" sz="1100" dirty="0"/>
          </a:p>
        </p:txBody>
      </p:sp>
      <p:sp>
        <p:nvSpPr>
          <p:cNvPr id="10" name="Shape 7"/>
          <p:cNvSpPr/>
          <p:nvPr/>
        </p:nvSpPr>
        <p:spPr>
          <a:xfrm>
            <a:off x="609600" y="3136392"/>
            <a:ext cx="6035040" cy="822960"/>
          </a:xfrm>
          <a:prstGeom prst="roundRect">
            <a:avLst>
              <a:gd name="adj" fmla="val 13889"/>
            </a:avLst>
          </a:prstGeom>
          <a:solidFill>
            <a:srgbClr val="0F172A"/>
          </a:solidFill>
          <a:ln w="12700">
            <a:solidFill>
              <a:srgbClr val="1E3A5F"/>
            </a:solidFill>
            <a:prstDash val="solid"/>
          </a:ln>
          <a:effectLst>
            <a:outerShdw sx="100000" sy="100000" kx="0" ky="0" algn="bl" rotWithShape="0" blurRad="50800" dist="25400" dir="16200000">
              <a:srgbClr val="073B3A">
                <a:alpha val="8000"/>
              </a:srgbClr>
            </a:outerShdw>
          </a:effectLst>
        </p:spPr>
      </p:sp>
      <p:sp>
        <p:nvSpPr>
          <p:cNvPr id="11" name="Text 8"/>
          <p:cNvSpPr/>
          <p:nvPr/>
        </p:nvSpPr>
        <p:spPr>
          <a:xfrm>
            <a:off x="755904" y="3282696"/>
            <a:ext cx="5742432" cy="548640"/>
          </a:xfrm>
          <a:prstGeom prst="rect">
            <a:avLst/>
          </a:prstGeom>
          <a:noFill/>
          <a:ln/>
        </p:spPr>
        <p:txBody>
          <a:bodyPr wrap="square" rtlCol="0" anchor="ctr"/>
          <a:lstStyle/>
          <a:p>
            <a:pPr algn="l" indent="0" marL="0">
              <a:buNone/>
            </a:pPr>
            <a:r>
              <a:rPr lang="en-US" sz="3600" b="1" dirty="0">
                <a:solidFill>
                  <a:srgbClr val="3B82F6"/>
                </a:solidFill>
                <a:latin typeface="Trebuchet MS" pitchFamily="34" charset="0"/>
                <a:ea typeface="Trebuchet MS" pitchFamily="34" charset="-122"/>
                <a:cs typeface="Trebuchet MS" pitchFamily="34" charset="-120"/>
              </a:rPr>
              <a:t>99.95%</a:t>
            </a:r>
            <a:endParaRPr lang="en-US" sz="3600" dirty="0"/>
          </a:p>
        </p:txBody>
      </p:sp>
      <p:sp>
        <p:nvSpPr>
          <p:cNvPr id="12" name="Text 9"/>
          <p:cNvSpPr/>
          <p:nvPr/>
        </p:nvSpPr>
        <p:spPr>
          <a:xfrm>
            <a:off x="755904" y="3867912"/>
            <a:ext cx="5742432" cy="292608"/>
          </a:xfrm>
          <a:prstGeom prst="rect">
            <a:avLst/>
          </a:prstGeom>
          <a:noFill/>
          <a:ln/>
        </p:spPr>
        <p:txBody>
          <a:bodyPr wrap="square" rtlCol="0" anchor="t"/>
          <a:lstStyle/>
          <a:p>
            <a:pPr algn="l" indent="0" marL="0">
              <a:buNone/>
            </a:pPr>
            <a:r>
              <a:rPr lang="en-US" sz="1400" b="1" dirty="0">
                <a:solidFill>
                  <a:srgbClr val="090D16"/>
                </a:solidFill>
                <a:latin typeface="Segoe UI" pitchFamily="34" charset="0"/>
                <a:ea typeface="Segoe UI" pitchFamily="34" charset="-122"/>
                <a:cs typeface="Segoe UI" pitchFamily="34" charset="-120"/>
              </a:rPr>
              <a:t>PoS Energy Reduction</a:t>
            </a:r>
            <a:endParaRPr lang="en-US" sz="1400" dirty="0"/>
          </a:p>
        </p:txBody>
      </p:sp>
      <p:sp>
        <p:nvSpPr>
          <p:cNvPr id="13" name="Text 10"/>
          <p:cNvSpPr/>
          <p:nvPr/>
        </p:nvSpPr>
        <p:spPr>
          <a:xfrm>
            <a:off x="755904" y="4197096"/>
            <a:ext cx="5742432" cy="365760"/>
          </a:xfrm>
          <a:prstGeom prst="rect">
            <a:avLst/>
          </a:prstGeom>
          <a:noFill/>
          <a:ln/>
        </p:spPr>
        <p:txBody>
          <a:bodyPr wrap="square" rtlCol="0" anchor="t"/>
          <a:lstStyle/>
          <a:p>
            <a:pPr algn="l" indent="0" marL="0">
              <a:buNone/>
            </a:pPr>
            <a:r>
              <a:rPr lang="en-US" sz="1100" dirty="0">
                <a:solidFill>
                  <a:srgbClr val="94A3B8"/>
                </a:solidFill>
                <a:latin typeface="Segoe UI" pitchFamily="34" charset="0"/>
                <a:ea typeface="Segoe UI" pitchFamily="34" charset="-122"/>
                <a:cs typeface="Segoe UI" pitchFamily="34" charset="-120"/>
              </a:rPr>
              <a:t>Net reduction in global energy consumption achieved after the Ethereum Proof-of-Stake transition.</a:t>
            </a:r>
            <a:endParaRPr lang="en-US" sz="1100" dirty="0"/>
          </a:p>
        </p:txBody>
      </p:sp>
      <p:sp>
        <p:nvSpPr>
          <p:cNvPr id="14" name="Shape 11"/>
          <p:cNvSpPr/>
          <p:nvPr/>
        </p:nvSpPr>
        <p:spPr>
          <a:xfrm>
            <a:off x="609600" y="4096512"/>
            <a:ext cx="6035040" cy="822960"/>
          </a:xfrm>
          <a:prstGeom prst="roundRect">
            <a:avLst>
              <a:gd name="adj" fmla="val 13889"/>
            </a:avLst>
          </a:prstGeom>
          <a:solidFill>
            <a:srgbClr val="0F172A"/>
          </a:solidFill>
          <a:ln w="12700">
            <a:solidFill>
              <a:srgbClr val="1E3A5F"/>
            </a:solidFill>
            <a:prstDash val="solid"/>
          </a:ln>
          <a:effectLst>
            <a:outerShdw sx="100000" sy="100000" kx="0" ky="0" algn="bl" rotWithShape="0" blurRad="50800" dist="25400" dir="16200000">
              <a:srgbClr val="073B3A">
                <a:alpha val="8000"/>
              </a:srgbClr>
            </a:outerShdw>
          </a:effectLst>
        </p:spPr>
      </p:sp>
      <p:sp>
        <p:nvSpPr>
          <p:cNvPr id="15" name="Text 12"/>
          <p:cNvSpPr/>
          <p:nvPr/>
        </p:nvSpPr>
        <p:spPr>
          <a:xfrm>
            <a:off x="755904" y="4242816"/>
            <a:ext cx="5742432" cy="548640"/>
          </a:xfrm>
          <a:prstGeom prst="rect">
            <a:avLst/>
          </a:prstGeom>
          <a:noFill/>
          <a:ln/>
        </p:spPr>
        <p:txBody>
          <a:bodyPr wrap="square" rtlCol="0" anchor="ctr"/>
          <a:lstStyle/>
          <a:p>
            <a:pPr algn="l" indent="0" marL="0">
              <a:buNone/>
            </a:pPr>
            <a:r>
              <a:rPr lang="en-US" sz="3600" b="1" dirty="0">
                <a:solidFill>
                  <a:srgbClr val="10B981"/>
                </a:solidFill>
                <a:latin typeface="Trebuchet MS" pitchFamily="34" charset="0"/>
                <a:ea typeface="Trebuchet MS" pitchFamily="34" charset="-122"/>
                <a:cs typeface="Trebuchet MS" pitchFamily="34" charset="-120"/>
              </a:rPr>
              <a:t>&lt;1.0s</a:t>
            </a:r>
            <a:endParaRPr lang="en-US" sz="3600" dirty="0"/>
          </a:p>
        </p:txBody>
      </p:sp>
      <p:sp>
        <p:nvSpPr>
          <p:cNvPr id="16" name="Text 13"/>
          <p:cNvSpPr/>
          <p:nvPr/>
        </p:nvSpPr>
        <p:spPr>
          <a:xfrm>
            <a:off x="755904" y="4828032"/>
            <a:ext cx="5742432" cy="292608"/>
          </a:xfrm>
          <a:prstGeom prst="rect">
            <a:avLst/>
          </a:prstGeom>
          <a:noFill/>
          <a:ln/>
        </p:spPr>
        <p:txBody>
          <a:bodyPr wrap="square" rtlCol="0" anchor="t"/>
          <a:lstStyle/>
          <a:p>
            <a:pPr algn="l" indent="0" marL="0">
              <a:buNone/>
            </a:pPr>
            <a:r>
              <a:rPr lang="en-US" sz="1400" b="1" dirty="0">
                <a:solidFill>
                  <a:srgbClr val="090D16"/>
                </a:solidFill>
                <a:latin typeface="Segoe UI" pitchFamily="34" charset="0"/>
                <a:ea typeface="Segoe UI" pitchFamily="34" charset="-122"/>
                <a:cs typeface="Segoe UI" pitchFamily="34" charset="-120"/>
              </a:rPr>
              <a:t>Sub-Second Finality</a:t>
            </a:r>
            <a:endParaRPr lang="en-US" sz="1400" dirty="0"/>
          </a:p>
        </p:txBody>
      </p:sp>
      <p:sp>
        <p:nvSpPr>
          <p:cNvPr id="17" name="Text 14"/>
          <p:cNvSpPr/>
          <p:nvPr/>
        </p:nvSpPr>
        <p:spPr>
          <a:xfrm>
            <a:off x="755904" y="5157216"/>
            <a:ext cx="5742432" cy="365760"/>
          </a:xfrm>
          <a:prstGeom prst="rect">
            <a:avLst/>
          </a:prstGeom>
          <a:noFill/>
          <a:ln/>
        </p:spPr>
        <p:txBody>
          <a:bodyPr wrap="square" rtlCol="0" anchor="t"/>
          <a:lstStyle/>
          <a:p>
            <a:pPr algn="l" indent="0" marL="0">
              <a:buNone/>
            </a:pPr>
            <a:r>
              <a:rPr lang="en-US" sz="1100" dirty="0">
                <a:solidFill>
                  <a:srgbClr val="94A3B8"/>
                </a:solidFill>
                <a:latin typeface="Segoe UI" pitchFamily="34" charset="0"/>
                <a:ea typeface="Segoe UI" pitchFamily="34" charset="-122"/>
                <a:cs typeface="Segoe UI" pitchFamily="34" charset="-120"/>
              </a:rPr>
              <a:t>BFT consensus finality achieved across next-generation modular consensus layers.</a:t>
            </a:r>
            <a:endParaRPr lang="en-US" sz="1100" dirty="0"/>
          </a:p>
        </p:txBody>
      </p:sp>
      <p:sp>
        <p:nvSpPr>
          <p:cNvPr id="18" name="Shape 15"/>
          <p:cNvSpPr/>
          <p:nvPr/>
        </p:nvSpPr>
        <p:spPr>
          <a:xfrm>
            <a:off x="609600" y="5056632"/>
            <a:ext cx="6035040" cy="822960"/>
          </a:xfrm>
          <a:prstGeom prst="roundRect">
            <a:avLst>
              <a:gd name="adj" fmla="val 13889"/>
            </a:avLst>
          </a:prstGeom>
          <a:solidFill>
            <a:srgbClr val="0F172A"/>
          </a:solidFill>
          <a:ln w="12700">
            <a:solidFill>
              <a:srgbClr val="1E3A5F"/>
            </a:solidFill>
            <a:prstDash val="solid"/>
          </a:ln>
          <a:effectLst>
            <a:outerShdw sx="100000" sy="100000" kx="0" ky="0" algn="bl" rotWithShape="0" blurRad="50800" dist="25400" dir="16200000">
              <a:srgbClr val="073B3A">
                <a:alpha val="8000"/>
              </a:srgbClr>
            </a:outerShdw>
          </a:effectLst>
        </p:spPr>
      </p:sp>
      <p:sp>
        <p:nvSpPr>
          <p:cNvPr id="19" name="Text 16"/>
          <p:cNvSpPr/>
          <p:nvPr/>
        </p:nvSpPr>
        <p:spPr>
          <a:xfrm>
            <a:off x="755904" y="5202936"/>
            <a:ext cx="5742432" cy="548640"/>
          </a:xfrm>
          <a:prstGeom prst="rect">
            <a:avLst/>
          </a:prstGeom>
          <a:noFill/>
          <a:ln/>
        </p:spPr>
        <p:txBody>
          <a:bodyPr wrap="square" rtlCol="0" anchor="ctr"/>
          <a:lstStyle/>
          <a:p>
            <a:pPr algn="l" indent="0" marL="0">
              <a:buNone/>
            </a:pPr>
            <a:r>
              <a:rPr lang="en-US" sz="3600" b="1" dirty="0">
                <a:solidFill>
                  <a:srgbClr val="090D16"/>
                </a:solidFill>
                <a:latin typeface="Trebuchet MS" pitchFamily="34" charset="0"/>
                <a:ea typeface="Trebuchet MS" pitchFamily="34" charset="-122"/>
                <a:cs typeface="Trebuchet MS" pitchFamily="34" charset="-120"/>
              </a:rPr>
              <a:t>$120B+</a:t>
            </a:r>
            <a:endParaRPr lang="en-US" sz="3600" dirty="0"/>
          </a:p>
        </p:txBody>
      </p:sp>
      <p:sp>
        <p:nvSpPr>
          <p:cNvPr id="20" name="Text 17"/>
          <p:cNvSpPr/>
          <p:nvPr/>
        </p:nvSpPr>
        <p:spPr>
          <a:xfrm>
            <a:off x="755904" y="5788152"/>
            <a:ext cx="5742432" cy="438912"/>
          </a:xfrm>
          <a:prstGeom prst="rect">
            <a:avLst/>
          </a:prstGeom>
          <a:noFill/>
          <a:ln/>
        </p:spPr>
        <p:txBody>
          <a:bodyPr wrap="square" rtlCol="0" anchor="t"/>
          <a:lstStyle/>
          <a:p>
            <a:pPr algn="l" indent="0" marL="0">
              <a:buNone/>
            </a:pPr>
            <a:r>
              <a:rPr lang="en-US" sz="1400" b="1" dirty="0">
                <a:solidFill>
                  <a:srgbClr val="090D16"/>
                </a:solidFill>
                <a:latin typeface="Segoe UI" pitchFamily="34" charset="0"/>
                <a:ea typeface="Segoe UI" pitchFamily="34" charset="-122"/>
                <a:cs typeface="Segoe UI" pitchFamily="34" charset="-120"/>
              </a:rPr>
              <a:t>Smart Contract Value Locked (TVL)</a:t>
            </a:r>
            <a:endParaRPr lang="en-US" sz="1400" dirty="0"/>
          </a:p>
        </p:txBody>
      </p:sp>
      <p:sp>
        <p:nvSpPr>
          <p:cNvPr id="21" name="Text 18"/>
          <p:cNvSpPr/>
          <p:nvPr/>
        </p:nvSpPr>
        <p:spPr>
          <a:xfrm>
            <a:off x="755904" y="6263640"/>
            <a:ext cx="5742432" cy="365760"/>
          </a:xfrm>
          <a:prstGeom prst="rect">
            <a:avLst/>
          </a:prstGeom>
          <a:noFill/>
          <a:ln/>
        </p:spPr>
        <p:txBody>
          <a:bodyPr wrap="square" rtlCol="0" anchor="t"/>
          <a:lstStyle/>
          <a:p>
            <a:pPr algn="l" indent="0" marL="0">
              <a:buNone/>
            </a:pPr>
            <a:r>
              <a:rPr lang="en-US" sz="1100" dirty="0">
                <a:solidFill>
                  <a:srgbClr val="94A3B8"/>
                </a:solidFill>
                <a:latin typeface="Segoe UI" pitchFamily="34" charset="0"/>
                <a:ea typeface="Segoe UI" pitchFamily="34" charset="-122"/>
                <a:cs typeface="Segoe UI" pitchFamily="34" charset="-120"/>
              </a:rPr>
              <a:t>Total economic capital secured inside decentralized financial and settlement protocols.</a:t>
            </a:r>
            <a:endParaRPr lang="en-US" sz="1100" dirty="0"/>
          </a:p>
        </p:txBody>
      </p:sp>
      <p:sp>
        <p:nvSpPr>
          <p:cNvPr id="22" name="Shape 19"/>
          <p:cNvSpPr/>
          <p:nvPr/>
        </p:nvSpPr>
        <p:spPr>
          <a:xfrm>
            <a:off x="7193280" y="2176272"/>
            <a:ext cx="4389120" cy="3703320"/>
          </a:xfrm>
          <a:prstGeom prst="roundRect">
            <a:avLst>
              <a:gd name="adj" fmla="val 3086"/>
            </a:avLst>
          </a:prstGeom>
          <a:solidFill>
            <a:srgbClr val="0284C7"/>
          </a:solidFill>
          <a:ln w="12700">
            <a:solidFill>
              <a:srgbClr val="1E3A5F"/>
            </a:solidFill>
            <a:prstDash val="solid"/>
          </a:ln>
          <a:effectLst>
            <a:outerShdw sx="100000" sy="100000" kx="0" ky="0" algn="bl" rotWithShape="0" blurRad="50800" dist="25400" dir="16200000">
              <a:srgbClr val="073B3A">
                <a:alpha val="8000"/>
              </a:srgbClr>
            </a:outerShdw>
          </a:effectLst>
        </p:spPr>
      </p:sp>
      <p:pic>
        <p:nvPicPr>
          <p:cNvPr id="23" name="Image 0" descr="C:\Projects\Presentation-Slides\ppt-generator\work\assets\ai_1786732982243_nwgwh2.png">    </p:cNvPr>
          <p:cNvPicPr>
            <a:picLocks noChangeAspect="1"/>
          </p:cNvPicPr>
          <p:nvPr/>
        </p:nvPicPr>
        <p:blipFill>
          <a:blip r:embed="rId1"/>
          <a:srcRect l="0" r="0" t="0" b="0"/>
          <a:stretch/>
        </p:blipFill>
        <p:spPr>
          <a:xfrm>
            <a:off x="7193280" y="2176272"/>
            <a:ext cx="4389120" cy="3703320"/>
          </a:xfrm>
          <a:prstGeom prst="rect">
            <a:avLst/>
          </a:prstGeom>
        </p:spPr>
      </p:pic>
      <p:sp>
        <p:nvSpPr>
          <p:cNvPr id="24" name="Shape 20"/>
          <p:cNvSpPr/>
          <p:nvPr/>
        </p:nvSpPr>
        <p:spPr>
          <a:xfrm>
            <a:off x="609600" y="6324600"/>
            <a:ext cx="10972800" cy="0"/>
          </a:xfrm>
          <a:prstGeom prst="line">
            <a:avLst/>
          </a:prstGeom>
          <a:noFill/>
          <a:ln w="12700">
            <a:solidFill>
              <a:srgbClr val="1E3A5F"/>
            </a:solidFill>
            <a:prstDash val="solid"/>
          </a:ln>
        </p:spPr>
      </p:sp>
      <p:sp>
        <p:nvSpPr>
          <p:cNvPr id="25" name="Text 21"/>
          <p:cNvSpPr/>
          <p:nvPr/>
        </p:nvSpPr>
        <p:spPr>
          <a:xfrm>
            <a:off x="609600" y="6397752"/>
            <a:ext cx="7680960" cy="274320"/>
          </a:xfrm>
          <a:prstGeom prst="rect">
            <a:avLst/>
          </a:prstGeom>
          <a:noFill/>
          <a:ln/>
        </p:spPr>
        <p:txBody>
          <a:bodyPr wrap="square" rtlCol="0" anchor="t"/>
          <a:lstStyle/>
          <a:p>
            <a:pPr algn="l" indent="0" marL="0">
              <a:buNone/>
            </a:pPr>
            <a:r>
              <a:rPr lang="en-US" sz="1200" dirty="0">
                <a:solidFill>
                  <a:srgbClr val="94A3B8"/>
                </a:solidFill>
                <a:latin typeface="Segoe UI" pitchFamily="34" charset="0"/>
                <a:ea typeface="Segoe UI" pitchFamily="34" charset="-122"/>
                <a:cs typeface="Segoe UI" pitchFamily="34" charset="-120"/>
              </a:rPr>
              <a:t>Empirical Network Metrics &amp; Scalability Benchmarks</a:t>
            </a:r>
            <a:endParaRPr lang="en-US" sz="1200" dirty="0"/>
          </a:p>
        </p:txBody>
      </p:sp>
      <p:sp>
        <p:nvSpPr>
          <p:cNvPr id="26" name="Text 22"/>
          <p:cNvSpPr/>
          <p:nvPr/>
        </p:nvSpPr>
        <p:spPr>
          <a:xfrm>
            <a:off x="8290560" y="6397752"/>
            <a:ext cx="3291840" cy="274320"/>
          </a:xfrm>
          <a:prstGeom prst="rect">
            <a:avLst/>
          </a:prstGeom>
          <a:noFill/>
          <a:ln/>
        </p:spPr>
        <p:txBody>
          <a:bodyPr wrap="square" rtlCol="0" anchor="t"/>
          <a:lstStyle/>
          <a:p>
            <a:pPr algn="r" indent="0" marL="0">
              <a:buNone/>
            </a:pPr>
            <a:r>
              <a:rPr lang="en-US" sz="1200" dirty="0">
                <a:solidFill>
                  <a:srgbClr val="94A3B8"/>
                </a:solidFill>
                <a:latin typeface="Segoe UI" pitchFamily="34" charset="0"/>
                <a:ea typeface="Segoe UI" pitchFamily="34" charset="-122"/>
                <a:cs typeface="Segoe UI" pitchFamily="34" charset="-120"/>
              </a:rPr>
              <a:t>6 / 10</a:t>
            </a:r>
            <a:endParaRPr lang="en-US" sz="1200" dirty="0"/>
          </a:p>
        </p:txBody>
      </p:sp>
    </p:spTree>
  </p:cSld>
  <p:clrMapOvr>
    <a:masterClrMapping/>
  </p:clrMapOvr>
  <p:transition spd="med" advClick="1">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609600" y="438150"/>
            <a:ext cx="10972800" cy="320040"/>
          </a:xfrm>
          <a:prstGeom prst="rect">
            <a:avLst/>
          </a:prstGeom>
          <a:noFill/>
          <a:ln/>
        </p:spPr>
        <p:txBody>
          <a:bodyPr wrap="square" rtlCol="0" anchor="t"/>
          <a:lstStyle/>
          <a:p>
            <a:pPr algn="l" indent="0" marL="0">
              <a:buNone/>
            </a:pPr>
            <a:r>
              <a:rPr lang="en-US" sz="1200" b="1" dirty="0">
                <a:solidFill>
                  <a:srgbClr val="06B6D4"/>
                </a:solidFill>
                <a:latin typeface="Segoe UI" pitchFamily="34" charset="0"/>
                <a:ea typeface="Segoe UI" pitchFamily="34" charset="-122"/>
                <a:cs typeface="Segoe UI" pitchFamily="34" charset="-120"/>
              </a:rPr>
              <a:t>LAYER-1 VS LAYER-2 BENCHMARKS &amp; THROUGHPUT COMPARISON</a:t>
            </a:r>
            <a:endParaRPr lang="en-US" sz="1200" dirty="0"/>
          </a:p>
        </p:txBody>
      </p:sp>
      <p:sp>
        <p:nvSpPr>
          <p:cNvPr id="4" name="Text 1"/>
          <p:cNvSpPr/>
          <p:nvPr/>
        </p:nvSpPr>
        <p:spPr>
          <a:xfrm>
            <a:off x="609600" y="785622"/>
            <a:ext cx="10972800" cy="713232"/>
          </a:xfrm>
          <a:prstGeom prst="rect">
            <a:avLst/>
          </a:prstGeom>
          <a:noFill/>
          <a:ln/>
        </p:spPr>
        <p:txBody>
          <a:bodyPr wrap="square" rtlCol="0" anchor="t"/>
          <a:lstStyle/>
          <a:p>
            <a:pPr algn="l" indent="0" marL="0">
              <a:buNone/>
            </a:pPr>
            <a:r>
              <a:rPr lang="en-US" sz="2800" b="1" dirty="0">
                <a:solidFill>
                  <a:srgbClr val="090D16"/>
                </a:solidFill>
                <a:latin typeface="Trebuchet MS" pitchFamily="34" charset="0"/>
                <a:ea typeface="Trebuchet MS" pitchFamily="34" charset="-122"/>
                <a:cs typeface="Trebuchet MS" pitchFamily="34" charset="-120"/>
              </a:rPr>
              <a:t>Layer-1 vs Layer-2 Scalability Benchmarks</a:t>
            </a:r>
            <a:endParaRPr lang="en-US" sz="2800" dirty="0"/>
          </a:p>
        </p:txBody>
      </p:sp>
      <p:sp>
        <p:nvSpPr>
          <p:cNvPr id="5" name="Text 2"/>
          <p:cNvSpPr/>
          <p:nvPr/>
        </p:nvSpPr>
        <p:spPr>
          <a:xfrm>
            <a:off x="609600" y="1572006"/>
            <a:ext cx="10972800" cy="411480"/>
          </a:xfrm>
          <a:prstGeom prst="rect">
            <a:avLst/>
          </a:prstGeom>
          <a:noFill/>
          <a:ln/>
        </p:spPr>
        <p:txBody>
          <a:bodyPr wrap="square" rtlCol="0" anchor="t"/>
          <a:lstStyle/>
          <a:p>
            <a:pPr algn="l" indent="0" marL="0">
              <a:buNone/>
            </a:pPr>
            <a:r>
              <a:rPr lang="en-US" sz="1500" dirty="0">
                <a:solidFill>
                  <a:srgbClr val="94A3B8"/>
                </a:solidFill>
                <a:latin typeface="Segoe UI" pitchFamily="34" charset="0"/>
                <a:ea typeface="Segoe UI" pitchFamily="34" charset="-122"/>
                <a:cs typeface="Segoe UI" pitchFamily="34" charset="-120"/>
              </a:rPr>
              <a:t>Comparing consensus finality, average transaction cost, and throughput across protocol layers.</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09600" y="2148840"/>
          <a:ext cx="6144768" cy="2852928"/>
        </p:xfrm>
        <a:graphic>
          <a:graphicData uri="http://schemas.openxmlformats.org/drawingml/2006/table">
            <a:tbl>
              <a:tblPr/>
              <a:tblGrid>
                <a:gridCol w="1720535"/>
                <a:gridCol w="1966326"/>
                <a:gridCol w="1228954"/>
                <a:gridCol w="1228954"/>
              </a:tblGrid>
              <a:tr h="570586">
                <a:tc>
                  <a:txBody>
                    <a:bodyPr/>
                    <a:lstStyle/>
                    <a:p>
                      <a:pPr algn="l" indent="0" marL="0">
                        <a:buNone/>
                      </a:pPr>
                      <a:r>
                        <a:rPr lang="en-US" sz="1200" b="1" dirty="0">
                          <a:solidFill>
                            <a:srgbClr val="F8FAFC"/>
                          </a:solidFill>
                          <a:latin typeface="Segoe UI" pitchFamily="34" charset="0"/>
                          <a:ea typeface="Segoe UI" pitchFamily="34" charset="-122"/>
                          <a:cs typeface="Segoe UI" pitchFamily="34" charset="-120"/>
                        </a:rPr>
                        <a:t>Architecture Tier</a:t>
                      </a:r>
                      <a:endParaRPr lang="en-US" sz="12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6090E"/>
                    </a:solidFill>
                  </a:tcPr>
                </a:tc>
                <a:tc>
                  <a:txBody>
                    <a:bodyPr/>
                    <a:lstStyle/>
                    <a:p>
                      <a:pPr algn="l" indent="0" marL="0">
                        <a:buNone/>
                      </a:pPr>
                      <a:r>
                        <a:rPr lang="en-US" sz="1200" b="1" dirty="0">
                          <a:solidFill>
                            <a:srgbClr val="F8FAFC"/>
                          </a:solidFill>
                          <a:latin typeface="Segoe UI" pitchFamily="34" charset="0"/>
                          <a:ea typeface="Segoe UI" pitchFamily="34" charset="-122"/>
                          <a:cs typeface="Segoe UI" pitchFamily="34" charset="-120"/>
                        </a:rPr>
                        <a:t>Consensus Mechanism</a:t>
                      </a:r>
                      <a:endParaRPr lang="en-US" sz="12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6090E"/>
                    </a:solidFill>
                  </a:tcPr>
                </a:tc>
                <a:tc>
                  <a:txBody>
                    <a:bodyPr/>
                    <a:lstStyle/>
                    <a:p>
                      <a:pPr algn="l" indent="0" marL="0">
                        <a:buNone/>
                      </a:pPr>
                      <a:r>
                        <a:rPr lang="en-US" sz="1200" b="1" dirty="0">
                          <a:solidFill>
                            <a:srgbClr val="F8FAFC"/>
                          </a:solidFill>
                          <a:latin typeface="Segoe UI" pitchFamily="34" charset="0"/>
                          <a:ea typeface="Segoe UI" pitchFamily="34" charset="-122"/>
                          <a:cs typeface="Segoe UI" pitchFamily="34" charset="-120"/>
                        </a:rPr>
                        <a:t>Average Gas Cost ($)</a:t>
                      </a:r>
                      <a:endParaRPr lang="en-US" sz="12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6090E"/>
                    </a:solidFill>
                  </a:tcPr>
                </a:tc>
                <a:tc>
                  <a:txBody>
                    <a:bodyPr/>
                    <a:lstStyle/>
                    <a:p>
                      <a:pPr algn="l" indent="0" marL="0">
                        <a:buNone/>
                      </a:pPr>
                      <a:r>
                        <a:rPr lang="en-US" sz="1200" b="1" dirty="0">
                          <a:solidFill>
                            <a:srgbClr val="F8FAFC"/>
                          </a:solidFill>
                          <a:latin typeface="Segoe UI" pitchFamily="34" charset="0"/>
                          <a:ea typeface="Segoe UI" pitchFamily="34" charset="-122"/>
                          <a:cs typeface="Segoe UI" pitchFamily="34" charset="-120"/>
                        </a:rPr>
                        <a:t>Throughput (TPS)</a:t>
                      </a:r>
                      <a:endParaRPr lang="en-US" sz="12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6090E"/>
                    </a:solidFill>
                  </a:tcPr>
                </a:tc>
              </a:tr>
              <a:tr h="570586">
                <a:tc>
                  <a:txBody>
                    <a:bodyPr/>
                    <a:lstStyle/>
                    <a:p>
                      <a:pPr algn="l" indent="0" marL="0">
                        <a:buNone/>
                      </a:pPr>
                      <a:r>
                        <a:rPr lang="en-US" sz="1100" dirty="0">
                          <a:solidFill>
                            <a:srgbClr val="090D16"/>
                          </a:solidFill>
                          <a:latin typeface="Segoe UI" pitchFamily="34" charset="0"/>
                          <a:ea typeface="Segoe UI" pitchFamily="34" charset="-122"/>
                          <a:cs typeface="Segoe UI" pitchFamily="34" charset="-120"/>
                        </a:rPr>
                        <a:t>Layer-1 Base Chain (Ethereum)</a:t>
                      </a:r>
                      <a:endParaRPr lang="en-US" sz="11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90D16"/>
                          </a:solidFill>
                          <a:latin typeface="Segoe UI" pitchFamily="34" charset="0"/>
                          <a:ea typeface="Segoe UI" pitchFamily="34" charset="-122"/>
                          <a:cs typeface="Segoe UI" pitchFamily="34" charset="-120"/>
                        </a:rPr>
                        <a:t>Proof of Stake (Casper)</a:t>
                      </a:r>
                      <a:endParaRPr lang="en-US" sz="11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90D16"/>
                          </a:solidFill>
                          <a:latin typeface="Segoe UI" pitchFamily="34" charset="0"/>
                          <a:ea typeface="Segoe UI" pitchFamily="34" charset="-122"/>
                          <a:cs typeface="Segoe UI" pitchFamily="34" charset="-120"/>
                        </a:rPr>
                        <a:t>$1.50 - $15.00</a:t>
                      </a:r>
                      <a:endParaRPr lang="en-US" sz="11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90D16"/>
                          </a:solidFill>
                          <a:latin typeface="Segoe UI" pitchFamily="34" charset="0"/>
                          <a:ea typeface="Segoe UI" pitchFamily="34" charset="-122"/>
                          <a:cs typeface="Segoe UI" pitchFamily="34" charset="-120"/>
                        </a:rPr>
                        <a:t>15 - 30 TPS</a:t>
                      </a:r>
                      <a:endParaRPr lang="en-US" sz="11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F8FAFC"/>
                    </a:solidFill>
                  </a:tcPr>
                </a:tc>
              </a:tr>
              <a:tr h="570586">
                <a:tc>
                  <a:txBody>
                    <a:bodyPr/>
                    <a:lstStyle/>
                    <a:p>
                      <a:pPr algn="l" indent="0" marL="0">
                        <a:buNone/>
                      </a:pPr>
                      <a:r>
                        <a:rPr lang="en-US" sz="1100" dirty="0">
                          <a:solidFill>
                            <a:srgbClr val="090D16"/>
                          </a:solidFill>
                          <a:latin typeface="Segoe UI" pitchFamily="34" charset="0"/>
                          <a:ea typeface="Segoe UI" pitchFamily="34" charset="-122"/>
                          <a:cs typeface="Segoe UI" pitchFamily="34" charset="-120"/>
                        </a:rPr>
                        <a:t>Optimistic Rollup (Arbitrum)</a:t>
                      </a:r>
                      <a:endParaRPr lang="en-US" sz="11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90D16"/>
                          </a:solidFill>
                          <a:latin typeface="Segoe UI" pitchFamily="34" charset="0"/>
                          <a:ea typeface="Segoe UI" pitchFamily="34" charset="-122"/>
                          <a:cs typeface="Segoe UI" pitchFamily="34" charset="-120"/>
                        </a:rPr>
                        <a:t>Fraud Proofs on L1</a:t>
                      </a:r>
                      <a:endParaRPr lang="en-US" sz="11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90D16"/>
                          </a:solidFill>
                          <a:latin typeface="Segoe UI" pitchFamily="34" charset="0"/>
                          <a:ea typeface="Segoe UI" pitchFamily="34" charset="-122"/>
                          <a:cs typeface="Segoe UI" pitchFamily="34" charset="-120"/>
                        </a:rPr>
                        <a:t>$0.02 - $0.10</a:t>
                      </a:r>
                      <a:endParaRPr lang="en-US" sz="11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90D16"/>
                          </a:solidFill>
                          <a:latin typeface="Segoe UI" pitchFamily="34" charset="0"/>
                          <a:ea typeface="Segoe UI" pitchFamily="34" charset="-122"/>
                          <a:cs typeface="Segoe UI" pitchFamily="34" charset="-120"/>
                        </a:rPr>
                        <a:t>2,000 - 4,000 TPS</a:t>
                      </a:r>
                      <a:endParaRPr lang="en-US" sz="11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F8FAFC"/>
                    </a:solidFill>
                  </a:tcPr>
                </a:tc>
              </a:tr>
              <a:tr h="570586">
                <a:tc>
                  <a:txBody>
                    <a:bodyPr/>
                    <a:lstStyle/>
                    <a:p>
                      <a:pPr algn="l" indent="0" marL="0">
                        <a:buNone/>
                      </a:pPr>
                      <a:r>
                        <a:rPr lang="en-US" sz="1100" dirty="0">
                          <a:solidFill>
                            <a:srgbClr val="090D16"/>
                          </a:solidFill>
                          <a:latin typeface="Segoe UI" pitchFamily="34" charset="0"/>
                          <a:ea typeface="Segoe UI" pitchFamily="34" charset="-122"/>
                          <a:cs typeface="Segoe UI" pitchFamily="34" charset="-120"/>
                        </a:rPr>
                        <a:t>ZK-Rollup (Starknet / zkSync)</a:t>
                      </a:r>
                      <a:endParaRPr lang="en-US" sz="11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90D16"/>
                          </a:solidFill>
                          <a:latin typeface="Segoe UI" pitchFamily="34" charset="0"/>
                          <a:ea typeface="Segoe UI" pitchFamily="34" charset="-122"/>
                          <a:cs typeface="Segoe UI" pitchFamily="34" charset="-120"/>
                        </a:rPr>
                        <a:t>Validity Proofs (STARKs)</a:t>
                      </a:r>
                      <a:endParaRPr lang="en-US" sz="11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90D16"/>
                          </a:solidFill>
                          <a:latin typeface="Segoe UI" pitchFamily="34" charset="0"/>
                          <a:ea typeface="Segoe UI" pitchFamily="34" charset="-122"/>
                          <a:cs typeface="Segoe UI" pitchFamily="34" charset="-120"/>
                        </a:rPr>
                        <a:t>$0.01 - $0.05</a:t>
                      </a:r>
                      <a:endParaRPr lang="en-US" sz="11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90D16"/>
                          </a:solidFill>
                          <a:latin typeface="Segoe UI" pitchFamily="34" charset="0"/>
                          <a:ea typeface="Segoe UI" pitchFamily="34" charset="-122"/>
                          <a:cs typeface="Segoe UI" pitchFamily="34" charset="-120"/>
                        </a:rPr>
                        <a:t>5,000 - 10,000 TPS</a:t>
                      </a:r>
                      <a:endParaRPr lang="en-US" sz="11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F8FAFC"/>
                    </a:solidFill>
                  </a:tcPr>
                </a:tc>
              </a:tr>
              <a:tr h="570586">
                <a:tc>
                  <a:txBody>
                    <a:bodyPr/>
                    <a:lstStyle/>
                    <a:p>
                      <a:pPr algn="l" indent="0" marL="0">
                        <a:buNone/>
                      </a:pPr>
                      <a:r>
                        <a:rPr lang="en-US" sz="1100" dirty="0">
                          <a:solidFill>
                            <a:srgbClr val="090D16"/>
                          </a:solidFill>
                          <a:latin typeface="Segoe UI" pitchFamily="34" charset="0"/>
                          <a:ea typeface="Segoe UI" pitchFamily="34" charset="-122"/>
                          <a:cs typeface="Segoe UI" pitchFamily="34" charset="-120"/>
                        </a:rPr>
                        <a:t>Enterprise Consortium (Fabric)</a:t>
                      </a:r>
                      <a:endParaRPr lang="en-US" sz="11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90D16"/>
                          </a:solidFill>
                          <a:latin typeface="Segoe UI" pitchFamily="34" charset="0"/>
                          <a:ea typeface="Segoe UI" pitchFamily="34" charset="-122"/>
                          <a:cs typeface="Segoe UI" pitchFamily="34" charset="-120"/>
                        </a:rPr>
                        <a:t>Raft / PBFT Consensus</a:t>
                      </a:r>
                      <a:endParaRPr lang="en-US" sz="11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90D16"/>
                          </a:solidFill>
                          <a:latin typeface="Segoe UI" pitchFamily="34" charset="0"/>
                          <a:ea typeface="Segoe UI" pitchFamily="34" charset="-122"/>
                          <a:cs typeface="Segoe UI" pitchFamily="34" charset="-120"/>
                        </a:rPr>
                        <a:t>&lt; $0.001</a:t>
                      </a:r>
                      <a:endParaRPr lang="en-US" sz="11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90D16"/>
                          </a:solidFill>
                          <a:latin typeface="Segoe UI" pitchFamily="34" charset="0"/>
                          <a:ea typeface="Segoe UI" pitchFamily="34" charset="-122"/>
                          <a:cs typeface="Segoe UI" pitchFamily="34" charset="-120"/>
                        </a:rPr>
                        <a:t>3,000 - 20,000 TPS</a:t>
                      </a:r>
                      <a:endParaRPr lang="en-US" sz="1100" dirty="0">
                        <a:latin typeface="Segoe UI" charset="0"/>
                        <a:ea typeface="Segoe UI" charset="0"/>
                        <a:cs typeface="Segoe UI"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F8FAFC"/>
                    </a:solidFill>
                  </a:tcPr>
                </a:tc>
              </a:tr>
            </a:tbl>
          </a:graphicData>
        </a:graphic>
      </p:graphicFrame>
      <p:graphicFrame>
        <p:nvGraphicFramePr>
          <p:cNvPr id="7" name="Chart 0" descr=""/>
          <p:cNvGraphicFramePr/>
          <p:nvPr/>
        </p:nvGraphicFramePr>
        <p:xfrm>
          <a:off x="7028688" y="2148840"/>
          <a:ext cx="4553712" cy="2852928"/>
        </p:xfrm>
        <a:graphic xmlns:a="http://schemas.openxmlformats.org/drawingml/2006/main">
          <a:graphicData uri="http://schemas.openxmlformats.org/drawingml/2006/chart">
            <c:chart xmlns:c="http://schemas.openxmlformats.org/drawingml/2006/chart" r:id="rId1"/>
          </a:graphicData>
        </a:graphic>
      </p:graphicFrame>
      <p:sp>
        <p:nvSpPr>
          <p:cNvPr id="8" name="Shape 3"/>
          <p:cNvSpPr/>
          <p:nvPr/>
        </p:nvSpPr>
        <p:spPr>
          <a:xfrm>
            <a:off x="609600" y="5148072"/>
            <a:ext cx="10972800" cy="530352"/>
          </a:xfrm>
          <a:prstGeom prst="roundRect">
            <a:avLst>
              <a:gd name="adj" fmla="val 13793"/>
            </a:avLst>
          </a:prstGeom>
          <a:solidFill>
            <a:srgbClr val="0F172A"/>
          </a:solidFill>
          <a:ln w="12700">
            <a:solidFill>
              <a:srgbClr val="10B981"/>
            </a:solidFill>
            <a:prstDash val="solid"/>
          </a:ln>
        </p:spPr>
      </p:sp>
      <p:sp>
        <p:nvSpPr>
          <p:cNvPr id="9" name="Text 4"/>
          <p:cNvSpPr/>
          <p:nvPr/>
        </p:nvSpPr>
        <p:spPr>
          <a:xfrm>
            <a:off x="746760" y="5221224"/>
            <a:ext cx="10698480" cy="384048"/>
          </a:xfrm>
          <a:prstGeom prst="rect">
            <a:avLst/>
          </a:prstGeom>
          <a:noFill/>
          <a:ln/>
        </p:spPr>
        <p:txBody>
          <a:bodyPr wrap="square" rtlCol="0" anchor="ctr"/>
          <a:lstStyle/>
          <a:p>
            <a:pPr algn="l" indent="0" marL="0">
              <a:buNone/>
            </a:pPr>
            <a:r>
              <a:rPr lang="en-US" sz="1200" b="1" dirty="0">
                <a:solidFill>
                  <a:srgbClr val="090D16"/>
                </a:solidFill>
                <a:latin typeface="Segoe UI" pitchFamily="34" charset="0"/>
                <a:ea typeface="Segoe UI" pitchFamily="34" charset="-122"/>
                <a:cs typeface="Segoe UI" pitchFamily="34" charset="-120"/>
              </a:rPr>
              <a:t>KEY TAKEAWAY: Layer-2 Rollups scale throughput by orders of magnitude while inheriting the cryptographic security of the underlying Layer-1 base chain.</a:t>
            </a:r>
            <a:endParaRPr lang="en-US" sz="1200" dirty="0"/>
          </a:p>
        </p:txBody>
      </p:sp>
      <p:sp>
        <p:nvSpPr>
          <p:cNvPr id="10" name="Shape 5"/>
          <p:cNvSpPr/>
          <p:nvPr/>
        </p:nvSpPr>
        <p:spPr>
          <a:xfrm>
            <a:off x="609600" y="6324600"/>
            <a:ext cx="10972800" cy="0"/>
          </a:xfrm>
          <a:prstGeom prst="line">
            <a:avLst/>
          </a:prstGeom>
          <a:noFill/>
          <a:ln w="12700">
            <a:solidFill>
              <a:srgbClr val="1E3A5F"/>
            </a:solidFill>
            <a:prstDash val="solid"/>
          </a:ln>
        </p:spPr>
      </p:sp>
      <p:sp>
        <p:nvSpPr>
          <p:cNvPr id="11" name="Text 6"/>
          <p:cNvSpPr/>
          <p:nvPr/>
        </p:nvSpPr>
        <p:spPr>
          <a:xfrm>
            <a:off x="609600" y="6397752"/>
            <a:ext cx="7680960" cy="274320"/>
          </a:xfrm>
          <a:prstGeom prst="rect">
            <a:avLst/>
          </a:prstGeom>
          <a:noFill/>
          <a:ln/>
        </p:spPr>
        <p:txBody>
          <a:bodyPr wrap="square" rtlCol="0" anchor="t"/>
          <a:lstStyle/>
          <a:p>
            <a:pPr algn="l" indent="0" marL="0">
              <a:buNone/>
            </a:pPr>
            <a:r>
              <a:rPr lang="en-US" sz="1200" dirty="0">
                <a:solidFill>
                  <a:srgbClr val="94A3B8"/>
                </a:solidFill>
                <a:latin typeface="Segoe UI" pitchFamily="34" charset="0"/>
                <a:ea typeface="Segoe UI" pitchFamily="34" charset="-122"/>
                <a:cs typeface="Segoe UI" pitchFamily="34" charset="-120"/>
              </a:rPr>
              <a:t>Layer-1 vs Layer-2 Scalability Benchmarks</a:t>
            </a:r>
            <a:endParaRPr lang="en-US" sz="1200" dirty="0"/>
          </a:p>
        </p:txBody>
      </p:sp>
      <p:sp>
        <p:nvSpPr>
          <p:cNvPr id="12" name="Text 7"/>
          <p:cNvSpPr/>
          <p:nvPr/>
        </p:nvSpPr>
        <p:spPr>
          <a:xfrm>
            <a:off x="8290560" y="6397752"/>
            <a:ext cx="3291840" cy="274320"/>
          </a:xfrm>
          <a:prstGeom prst="rect">
            <a:avLst/>
          </a:prstGeom>
          <a:noFill/>
          <a:ln/>
        </p:spPr>
        <p:txBody>
          <a:bodyPr wrap="square" rtlCol="0" anchor="t"/>
          <a:lstStyle/>
          <a:p>
            <a:pPr algn="r" indent="0" marL="0">
              <a:buNone/>
            </a:pPr>
            <a:r>
              <a:rPr lang="en-US" sz="1200" dirty="0">
                <a:solidFill>
                  <a:srgbClr val="94A3B8"/>
                </a:solidFill>
                <a:latin typeface="Segoe UI" pitchFamily="34" charset="0"/>
                <a:ea typeface="Segoe UI" pitchFamily="34" charset="-122"/>
                <a:cs typeface="Segoe UI" pitchFamily="34" charset="-120"/>
              </a:rPr>
              <a:t>7 / 10</a:t>
            </a:r>
            <a:endParaRPr lang="en-US" sz="1200" dirty="0"/>
          </a:p>
        </p:txBody>
      </p:sp>
    </p:spTree>
  </p:cSld>
  <p:clrMapOvr>
    <a:masterClrMapping/>
  </p:clrMapOvr>
  <p:transition spd="med" advClick="1">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609600" y="438150"/>
            <a:ext cx="10972800" cy="320040"/>
          </a:xfrm>
          <a:prstGeom prst="rect">
            <a:avLst/>
          </a:prstGeom>
          <a:noFill/>
          <a:ln/>
        </p:spPr>
        <p:txBody>
          <a:bodyPr wrap="square" rtlCol="0" anchor="t"/>
          <a:lstStyle/>
          <a:p>
            <a:pPr algn="l" indent="0" marL="0">
              <a:buNone/>
            </a:pPr>
            <a:r>
              <a:rPr lang="en-US" sz="1200" b="1" dirty="0">
                <a:solidFill>
                  <a:srgbClr val="06B6D4"/>
                </a:solidFill>
                <a:latin typeface="Segoe UI" pitchFamily="34" charset="0"/>
                <a:ea typeface="Segoe UI" pitchFamily="34" charset="-122"/>
                <a:cs typeface="Segoe UI" pitchFamily="34" charset="-120"/>
              </a:rPr>
              <a:t>ENTERPRISE SUPPLY CHAIN TRACEABILITY ON PERMISSIONED LEDGERS</a:t>
            </a:r>
            <a:endParaRPr lang="en-US" sz="1200" dirty="0"/>
          </a:p>
        </p:txBody>
      </p:sp>
      <p:sp>
        <p:nvSpPr>
          <p:cNvPr id="4" name="Text 1"/>
          <p:cNvSpPr/>
          <p:nvPr/>
        </p:nvSpPr>
        <p:spPr>
          <a:xfrm>
            <a:off x="609600" y="785622"/>
            <a:ext cx="10972800" cy="713232"/>
          </a:xfrm>
          <a:prstGeom prst="rect">
            <a:avLst/>
          </a:prstGeom>
          <a:noFill/>
          <a:ln/>
        </p:spPr>
        <p:txBody>
          <a:bodyPr wrap="square" rtlCol="0" anchor="t"/>
          <a:lstStyle/>
          <a:p>
            <a:pPr algn="l" indent="0" marL="0">
              <a:buNone/>
            </a:pPr>
            <a:r>
              <a:rPr lang="en-US" sz="2800" b="1" dirty="0">
                <a:solidFill>
                  <a:srgbClr val="090D16"/>
                </a:solidFill>
                <a:latin typeface="Trebuchet MS" pitchFamily="34" charset="0"/>
                <a:ea typeface="Trebuchet MS" pitchFamily="34" charset="-122"/>
                <a:cs typeface="Trebuchet MS" pitchFamily="34" charset="-120"/>
              </a:rPr>
              <a:t>Enterprise Supply Chain Traceability</a:t>
            </a:r>
            <a:endParaRPr lang="en-US" sz="2800" dirty="0"/>
          </a:p>
        </p:txBody>
      </p:sp>
      <p:sp>
        <p:nvSpPr>
          <p:cNvPr id="5" name="Text 2"/>
          <p:cNvSpPr/>
          <p:nvPr/>
        </p:nvSpPr>
        <p:spPr>
          <a:xfrm>
            <a:off x="609600" y="1572006"/>
            <a:ext cx="10972800" cy="411480"/>
          </a:xfrm>
          <a:prstGeom prst="rect">
            <a:avLst/>
          </a:prstGeom>
          <a:noFill/>
          <a:ln/>
        </p:spPr>
        <p:txBody>
          <a:bodyPr wrap="square" rtlCol="0" anchor="t"/>
          <a:lstStyle/>
          <a:p>
            <a:pPr algn="l" indent="0" marL="0">
              <a:buNone/>
            </a:pPr>
            <a:r>
              <a:rPr lang="en-US" sz="1500" dirty="0">
                <a:solidFill>
                  <a:srgbClr val="94A3B8"/>
                </a:solidFill>
                <a:latin typeface="Segoe UI" pitchFamily="34" charset="0"/>
                <a:ea typeface="Segoe UI" pitchFamily="34" charset="-122"/>
                <a:cs typeface="Segoe UI" pitchFamily="34" charset="-120"/>
              </a:rPr>
              <a:t>Deploying permissioned distributed ledgers for end-to-end pharmaceutical provenance tracking.</a:t>
            </a:r>
            <a:endParaRPr lang="en-US" sz="1500" dirty="0"/>
          </a:p>
        </p:txBody>
      </p:sp>
      <p:sp>
        <p:nvSpPr>
          <p:cNvPr id="6" name="Shape 3"/>
          <p:cNvSpPr/>
          <p:nvPr/>
        </p:nvSpPr>
        <p:spPr>
          <a:xfrm>
            <a:off x="609600" y="2011680"/>
            <a:ext cx="3451860" cy="1874520"/>
          </a:xfrm>
          <a:prstGeom prst="roundRect">
            <a:avLst>
              <a:gd name="adj" fmla="val 6098"/>
            </a:avLst>
          </a:prstGeom>
          <a:solidFill>
            <a:srgbClr val="F8FAFC"/>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7" name="Shape 4"/>
          <p:cNvSpPr/>
          <p:nvPr/>
        </p:nvSpPr>
        <p:spPr>
          <a:xfrm>
            <a:off x="737616" y="2139696"/>
            <a:ext cx="292608" cy="292608"/>
          </a:xfrm>
          <a:prstGeom prst="ellipse">
            <a:avLst/>
          </a:prstGeom>
          <a:solidFill>
            <a:srgbClr val="0F172A"/>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3453" y="2205533"/>
            <a:ext cx="160934" cy="160934"/>
          </a:xfrm>
          <a:prstGeom prst="rect">
            <a:avLst/>
          </a:prstGeom>
        </p:spPr>
      </p:pic>
      <p:sp>
        <p:nvSpPr>
          <p:cNvPr id="9" name="Text 5"/>
          <p:cNvSpPr/>
          <p:nvPr/>
        </p:nvSpPr>
        <p:spPr>
          <a:xfrm>
            <a:off x="737616" y="2505456"/>
            <a:ext cx="3195828" cy="256032"/>
          </a:xfrm>
          <a:prstGeom prst="rect">
            <a:avLst/>
          </a:prstGeom>
          <a:noFill/>
          <a:ln/>
        </p:spPr>
        <p:txBody>
          <a:bodyPr wrap="square" rtlCol="0" anchor="t"/>
          <a:lstStyle/>
          <a:p>
            <a:pPr algn="l" indent="0" marL="0">
              <a:buNone/>
            </a:pPr>
            <a:r>
              <a:rPr lang="en-US" sz="1350" b="1" dirty="0">
                <a:solidFill>
                  <a:srgbClr val="090D16"/>
                </a:solidFill>
                <a:latin typeface="Segoe UI" pitchFamily="34" charset="0"/>
                <a:ea typeface="Segoe UI" pitchFamily="34" charset="-122"/>
                <a:cs typeface="Segoe UI" pitchFamily="34" charset="-120"/>
              </a:rPr>
              <a:t>Context &amp; Background</a:t>
            </a:r>
            <a:endParaRPr lang="en-US" sz="1350" dirty="0"/>
          </a:p>
        </p:txBody>
      </p:sp>
      <p:sp>
        <p:nvSpPr>
          <p:cNvPr id="10" name="Text 6"/>
          <p:cNvSpPr/>
          <p:nvPr/>
        </p:nvSpPr>
        <p:spPr>
          <a:xfrm>
            <a:off x="737616" y="2816352"/>
            <a:ext cx="3195828" cy="941832"/>
          </a:xfrm>
          <a:prstGeom prst="rect">
            <a:avLst/>
          </a:prstGeom>
          <a:noFill/>
          <a:ln/>
        </p:spPr>
        <p:txBody>
          <a:bodyPr wrap="square" rtlCol="0" anchor="t"/>
          <a:lstStyle/>
          <a:p>
            <a:pPr algn="l" indent="0" marL="0">
              <a:buNone/>
            </a:pPr>
            <a:r>
              <a:rPr lang="en-US" sz="1100" dirty="0">
                <a:solidFill>
                  <a:srgbClr val="94A3B8"/>
                </a:solidFill>
                <a:latin typeface="Segoe UI" pitchFamily="34" charset="0"/>
                <a:ea typeface="Segoe UI" pitchFamily="34" charset="-122"/>
                <a:cs typeface="Segoe UI" pitchFamily="34" charset="-120"/>
              </a:rPr>
              <a:t>Global Pharmaceutical Logistics Consortium (200+ manufacturers, distributors, and hospital networks).</a:t>
            </a:r>
            <a:endParaRPr lang="en-US" sz="1100" dirty="0"/>
          </a:p>
        </p:txBody>
      </p:sp>
      <p:sp>
        <p:nvSpPr>
          <p:cNvPr id="11" name="Shape 7"/>
          <p:cNvSpPr/>
          <p:nvPr/>
        </p:nvSpPr>
        <p:spPr>
          <a:xfrm>
            <a:off x="4290060" y="2011680"/>
            <a:ext cx="3451860" cy="1874520"/>
          </a:xfrm>
          <a:prstGeom prst="roundRect">
            <a:avLst>
              <a:gd name="adj" fmla="val 6098"/>
            </a:avLst>
          </a:prstGeom>
          <a:solidFill>
            <a:srgbClr val="F8FAFC"/>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12" name="Shape 8"/>
          <p:cNvSpPr/>
          <p:nvPr/>
        </p:nvSpPr>
        <p:spPr>
          <a:xfrm>
            <a:off x="4418076" y="2139696"/>
            <a:ext cx="292608" cy="292608"/>
          </a:xfrm>
          <a:prstGeom prst="ellipse">
            <a:avLst/>
          </a:prstGeom>
          <a:solidFill>
            <a:srgbClr val="0F172A"/>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83913" y="2205533"/>
            <a:ext cx="160934" cy="160934"/>
          </a:xfrm>
          <a:prstGeom prst="rect">
            <a:avLst/>
          </a:prstGeom>
        </p:spPr>
      </p:pic>
      <p:sp>
        <p:nvSpPr>
          <p:cNvPr id="14" name="Text 9"/>
          <p:cNvSpPr/>
          <p:nvPr/>
        </p:nvSpPr>
        <p:spPr>
          <a:xfrm>
            <a:off x="4418076" y="2505456"/>
            <a:ext cx="3195828" cy="256032"/>
          </a:xfrm>
          <a:prstGeom prst="rect">
            <a:avLst/>
          </a:prstGeom>
          <a:noFill/>
          <a:ln/>
        </p:spPr>
        <p:txBody>
          <a:bodyPr wrap="square" rtlCol="0" anchor="t"/>
          <a:lstStyle/>
          <a:p>
            <a:pPr algn="l" indent="0" marL="0">
              <a:buNone/>
            </a:pPr>
            <a:r>
              <a:rPr lang="en-US" sz="1350" b="1" dirty="0">
                <a:solidFill>
                  <a:srgbClr val="090D16"/>
                </a:solidFill>
                <a:latin typeface="Segoe UI" pitchFamily="34" charset="0"/>
                <a:ea typeface="Segoe UI" pitchFamily="34" charset="-122"/>
                <a:cs typeface="Segoe UI" pitchFamily="34" charset="-120"/>
              </a:rPr>
              <a:t>Core Challenge</a:t>
            </a:r>
            <a:endParaRPr lang="en-US" sz="1350" dirty="0"/>
          </a:p>
        </p:txBody>
      </p:sp>
      <p:sp>
        <p:nvSpPr>
          <p:cNvPr id="15" name="Text 10"/>
          <p:cNvSpPr/>
          <p:nvPr/>
        </p:nvSpPr>
        <p:spPr>
          <a:xfrm>
            <a:off x="4418076" y="2816352"/>
            <a:ext cx="3195828" cy="941832"/>
          </a:xfrm>
          <a:prstGeom prst="rect">
            <a:avLst/>
          </a:prstGeom>
          <a:noFill/>
          <a:ln/>
        </p:spPr>
        <p:txBody>
          <a:bodyPr wrap="square" rtlCol="0" anchor="t"/>
          <a:lstStyle/>
          <a:p>
            <a:pPr algn="l" indent="0" marL="0">
              <a:buNone/>
            </a:pPr>
            <a:r>
              <a:rPr lang="en-US" sz="1100" dirty="0">
                <a:solidFill>
                  <a:srgbClr val="94A3B8"/>
                </a:solidFill>
                <a:latin typeface="Segoe UI" pitchFamily="34" charset="0"/>
                <a:ea typeface="Segoe UI" pitchFamily="34" charset="-122"/>
                <a:cs typeface="Segoe UI" pitchFamily="34" charset="-120"/>
              </a:rPr>
              <a:t>Counterfeit medication infiltration and multi-week dispute resolution across disparate enterprise databases.</a:t>
            </a:r>
            <a:endParaRPr lang="en-US" sz="1100" dirty="0"/>
          </a:p>
        </p:txBody>
      </p:sp>
      <p:sp>
        <p:nvSpPr>
          <p:cNvPr id="16" name="Shape 11"/>
          <p:cNvSpPr/>
          <p:nvPr/>
        </p:nvSpPr>
        <p:spPr>
          <a:xfrm>
            <a:off x="609600" y="4069080"/>
            <a:ext cx="3451860" cy="1874520"/>
          </a:xfrm>
          <a:prstGeom prst="roundRect">
            <a:avLst>
              <a:gd name="adj" fmla="val 6098"/>
            </a:avLst>
          </a:prstGeom>
          <a:solidFill>
            <a:srgbClr val="F8FAFC"/>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17" name="Shape 12"/>
          <p:cNvSpPr/>
          <p:nvPr/>
        </p:nvSpPr>
        <p:spPr>
          <a:xfrm>
            <a:off x="737616" y="4197096"/>
            <a:ext cx="292608" cy="292608"/>
          </a:xfrm>
          <a:prstGeom prst="ellipse">
            <a:avLst/>
          </a:prstGeom>
          <a:solidFill>
            <a:srgbClr val="0F172A"/>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453" y="4262933"/>
            <a:ext cx="160934" cy="160934"/>
          </a:xfrm>
          <a:prstGeom prst="rect">
            <a:avLst/>
          </a:prstGeom>
        </p:spPr>
      </p:pic>
      <p:sp>
        <p:nvSpPr>
          <p:cNvPr id="19" name="Text 13"/>
          <p:cNvSpPr/>
          <p:nvPr/>
        </p:nvSpPr>
        <p:spPr>
          <a:xfrm>
            <a:off x="737616" y="4562856"/>
            <a:ext cx="3195828" cy="256032"/>
          </a:xfrm>
          <a:prstGeom prst="rect">
            <a:avLst/>
          </a:prstGeom>
          <a:noFill/>
          <a:ln/>
        </p:spPr>
        <p:txBody>
          <a:bodyPr wrap="square" rtlCol="0" anchor="t"/>
          <a:lstStyle/>
          <a:p>
            <a:pPr algn="l" indent="0" marL="0">
              <a:buNone/>
            </a:pPr>
            <a:r>
              <a:rPr lang="en-US" sz="1350" b="1" dirty="0">
                <a:solidFill>
                  <a:srgbClr val="090D16"/>
                </a:solidFill>
                <a:latin typeface="Segoe UI" pitchFamily="34" charset="0"/>
                <a:ea typeface="Segoe UI" pitchFamily="34" charset="-122"/>
                <a:cs typeface="Segoe UI" pitchFamily="34" charset="-120"/>
              </a:rPr>
              <a:t>Implemented Solution</a:t>
            </a:r>
            <a:endParaRPr lang="en-US" sz="1350" dirty="0"/>
          </a:p>
        </p:txBody>
      </p:sp>
      <p:sp>
        <p:nvSpPr>
          <p:cNvPr id="20" name="Text 14"/>
          <p:cNvSpPr/>
          <p:nvPr/>
        </p:nvSpPr>
        <p:spPr>
          <a:xfrm>
            <a:off x="737616" y="4873752"/>
            <a:ext cx="3195828" cy="941832"/>
          </a:xfrm>
          <a:prstGeom prst="rect">
            <a:avLst/>
          </a:prstGeom>
          <a:noFill/>
          <a:ln/>
        </p:spPr>
        <p:txBody>
          <a:bodyPr wrap="square" rtlCol="0" anchor="t"/>
          <a:lstStyle/>
          <a:p>
            <a:pPr algn="l" indent="0" marL="0">
              <a:buNone/>
            </a:pPr>
            <a:r>
              <a:rPr lang="en-US" sz="1100" dirty="0">
                <a:solidFill>
                  <a:srgbClr val="94A3B8"/>
                </a:solidFill>
                <a:latin typeface="Segoe UI" pitchFamily="34" charset="0"/>
                <a:ea typeface="Segoe UI" pitchFamily="34" charset="-122"/>
                <a:cs typeface="Segoe UI" pitchFamily="34" charset="-120"/>
              </a:rPr>
              <a:t>Implemented permissioned Hyperledger Fabric ledger with IoT sensor telemetry and verifiable digital product passports.</a:t>
            </a:r>
            <a:endParaRPr lang="en-US" sz="1100" dirty="0"/>
          </a:p>
        </p:txBody>
      </p:sp>
      <p:sp>
        <p:nvSpPr>
          <p:cNvPr id="21" name="Shape 15"/>
          <p:cNvSpPr/>
          <p:nvPr/>
        </p:nvSpPr>
        <p:spPr>
          <a:xfrm>
            <a:off x="4290060" y="4069080"/>
            <a:ext cx="3451860" cy="1874520"/>
          </a:xfrm>
          <a:prstGeom prst="roundRect">
            <a:avLst>
              <a:gd name="adj" fmla="val 6098"/>
            </a:avLst>
          </a:prstGeom>
          <a:solidFill>
            <a:srgbClr val="0F172A"/>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22" name="Shape 16"/>
          <p:cNvSpPr/>
          <p:nvPr/>
        </p:nvSpPr>
        <p:spPr>
          <a:xfrm>
            <a:off x="4418076" y="4197096"/>
            <a:ext cx="292608" cy="292608"/>
          </a:xfrm>
          <a:prstGeom prst="ellipse">
            <a:avLst/>
          </a:prstGeom>
          <a:solidFill>
            <a:srgbClr val="0F172A"/>
          </a:solidFill>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83913" y="4262933"/>
            <a:ext cx="160934" cy="160934"/>
          </a:xfrm>
          <a:prstGeom prst="rect">
            <a:avLst/>
          </a:prstGeom>
        </p:spPr>
      </p:pic>
      <p:sp>
        <p:nvSpPr>
          <p:cNvPr id="24" name="Text 17"/>
          <p:cNvSpPr/>
          <p:nvPr/>
        </p:nvSpPr>
        <p:spPr>
          <a:xfrm>
            <a:off x="4418076" y="4562856"/>
            <a:ext cx="3195828" cy="256032"/>
          </a:xfrm>
          <a:prstGeom prst="rect">
            <a:avLst/>
          </a:prstGeom>
          <a:noFill/>
          <a:ln/>
        </p:spPr>
        <p:txBody>
          <a:bodyPr wrap="square" rtlCol="0" anchor="t"/>
          <a:lstStyle/>
          <a:p>
            <a:pPr algn="l" indent="0" marL="0">
              <a:buNone/>
            </a:pPr>
            <a:r>
              <a:rPr lang="en-US" sz="1350" b="1" dirty="0">
                <a:solidFill>
                  <a:srgbClr val="090D16"/>
                </a:solidFill>
                <a:latin typeface="Segoe UI" pitchFamily="34" charset="0"/>
                <a:ea typeface="Segoe UI" pitchFamily="34" charset="-122"/>
                <a:cs typeface="Segoe UI" pitchFamily="34" charset="-120"/>
              </a:rPr>
              <a:t>Measurable Impact</a:t>
            </a:r>
            <a:endParaRPr lang="en-US" sz="1350" dirty="0"/>
          </a:p>
        </p:txBody>
      </p:sp>
      <p:sp>
        <p:nvSpPr>
          <p:cNvPr id="25" name="Text 18"/>
          <p:cNvSpPr/>
          <p:nvPr/>
        </p:nvSpPr>
        <p:spPr>
          <a:xfrm>
            <a:off x="4418076" y="4873752"/>
            <a:ext cx="3195828" cy="941832"/>
          </a:xfrm>
          <a:prstGeom prst="rect">
            <a:avLst/>
          </a:prstGeom>
          <a:noFill/>
          <a:ln/>
        </p:spPr>
        <p:txBody>
          <a:bodyPr wrap="square" rtlCol="0" anchor="t"/>
          <a:lstStyle/>
          <a:p>
            <a:pPr algn="l" indent="0" marL="0">
              <a:buNone/>
            </a:pPr>
            <a:r>
              <a:rPr lang="en-US" sz="1100" dirty="0">
                <a:solidFill>
                  <a:srgbClr val="94A3B8"/>
                </a:solidFill>
                <a:latin typeface="Segoe UI" pitchFamily="34" charset="0"/>
                <a:ea typeface="Segoe UI" pitchFamily="34" charset="-122"/>
                <a:cs typeface="Segoe UI" pitchFamily="34" charset="-120"/>
              </a:rPr>
              <a:t>Reduced customs clearance time by 88% and established 100% tamper-evident item-level pedigree auditability.</a:t>
            </a:r>
            <a:endParaRPr lang="en-US" sz="1100" dirty="0"/>
          </a:p>
        </p:txBody>
      </p:sp>
      <p:sp>
        <p:nvSpPr>
          <p:cNvPr id="26" name="Shape 19"/>
          <p:cNvSpPr/>
          <p:nvPr/>
        </p:nvSpPr>
        <p:spPr>
          <a:xfrm>
            <a:off x="7970520" y="2011680"/>
            <a:ext cx="3511296" cy="3931920"/>
          </a:xfrm>
          <a:prstGeom prst="roundRect">
            <a:avLst>
              <a:gd name="adj" fmla="val 3255"/>
            </a:avLst>
          </a:prstGeom>
          <a:solidFill>
            <a:srgbClr val="1E293B"/>
          </a:solidFill>
          <a:ln w="12700">
            <a:solidFill>
              <a:srgbClr val="1E3A5F"/>
            </a:solidFill>
            <a:prstDash val="solid"/>
          </a:ln>
          <a:effectLst>
            <a:outerShdw sx="100000" sy="100000" kx="0" ky="0" algn="bl" rotWithShape="0" blurRad="50800" dist="25400" dir="16200000">
              <a:srgbClr val="073B3A">
                <a:alpha val="8000"/>
              </a:srgbClr>
            </a:outerShdw>
          </a:effectLst>
        </p:spPr>
      </p:sp>
      <p:pic>
        <p:nvPicPr>
          <p:cNvPr id="27" name="Image 4" descr="C:\Projects\Presentation-Slides\ppt-generator\work\assets\ai_1786732982237_vvcamz.png">    </p:cNvPr>
          <p:cNvPicPr>
            <a:picLocks noChangeAspect="1"/>
          </p:cNvPicPr>
          <p:nvPr/>
        </p:nvPicPr>
        <p:blipFill>
          <a:blip r:embed="rId9"/>
          <a:srcRect l="0" r="0" t="0" b="0"/>
          <a:stretch/>
        </p:blipFill>
        <p:spPr>
          <a:xfrm>
            <a:off x="7970520" y="2011680"/>
            <a:ext cx="3511296" cy="3931920"/>
          </a:xfrm>
          <a:prstGeom prst="rect">
            <a:avLst/>
          </a:prstGeom>
        </p:spPr>
      </p:pic>
      <p:sp>
        <p:nvSpPr>
          <p:cNvPr id="28" name="Text 20"/>
          <p:cNvSpPr/>
          <p:nvPr/>
        </p:nvSpPr>
        <p:spPr>
          <a:xfrm>
            <a:off x="7970520" y="6016752"/>
            <a:ext cx="3511296" cy="274320"/>
          </a:xfrm>
          <a:prstGeom prst="rect">
            <a:avLst/>
          </a:prstGeom>
          <a:noFill/>
          <a:ln/>
        </p:spPr>
        <p:txBody>
          <a:bodyPr wrap="square" rtlCol="0" anchor="t"/>
          <a:lstStyle/>
          <a:p>
            <a:pPr algn="ctr" indent="0" marL="0">
              <a:buNone/>
            </a:pPr>
            <a:r>
              <a:rPr lang="en-US" sz="1200" dirty="0">
                <a:solidFill>
                  <a:srgbClr val="94A3B8"/>
                </a:solidFill>
                <a:latin typeface="Segoe UI" pitchFamily="34" charset="0"/>
                <a:ea typeface="Segoe UI" pitchFamily="34" charset="-122"/>
                <a:cs typeface="Segoe UI" pitchFamily="34" charset="-120"/>
              </a:rPr>
              <a:t>Case Study Visual</a:t>
            </a:r>
            <a:endParaRPr lang="en-US" sz="1200" dirty="0"/>
          </a:p>
        </p:txBody>
      </p:sp>
      <p:sp>
        <p:nvSpPr>
          <p:cNvPr id="29" name="Shape 21"/>
          <p:cNvSpPr/>
          <p:nvPr/>
        </p:nvSpPr>
        <p:spPr>
          <a:xfrm>
            <a:off x="609600" y="6324600"/>
            <a:ext cx="10972800" cy="0"/>
          </a:xfrm>
          <a:prstGeom prst="line">
            <a:avLst/>
          </a:prstGeom>
          <a:noFill/>
          <a:ln w="12700">
            <a:solidFill>
              <a:srgbClr val="1E3A5F"/>
            </a:solidFill>
            <a:prstDash val="solid"/>
          </a:ln>
        </p:spPr>
      </p:sp>
      <p:sp>
        <p:nvSpPr>
          <p:cNvPr id="30" name="Text 22"/>
          <p:cNvSpPr/>
          <p:nvPr/>
        </p:nvSpPr>
        <p:spPr>
          <a:xfrm>
            <a:off x="609600" y="6397752"/>
            <a:ext cx="7680960" cy="274320"/>
          </a:xfrm>
          <a:prstGeom prst="rect">
            <a:avLst/>
          </a:prstGeom>
          <a:noFill/>
          <a:ln/>
        </p:spPr>
        <p:txBody>
          <a:bodyPr wrap="square" rtlCol="0" anchor="t"/>
          <a:lstStyle/>
          <a:p>
            <a:pPr algn="l" indent="0" marL="0">
              <a:buNone/>
            </a:pPr>
            <a:r>
              <a:rPr lang="en-US" sz="1200" dirty="0">
                <a:solidFill>
                  <a:srgbClr val="94A3B8"/>
                </a:solidFill>
                <a:latin typeface="Segoe UI" pitchFamily="34" charset="0"/>
                <a:ea typeface="Segoe UI" pitchFamily="34" charset="-122"/>
                <a:cs typeface="Segoe UI" pitchFamily="34" charset="-120"/>
              </a:rPr>
              <a:t>Enterprise Supply Chain Traceability</a:t>
            </a:r>
            <a:endParaRPr lang="en-US" sz="1200" dirty="0"/>
          </a:p>
        </p:txBody>
      </p:sp>
      <p:sp>
        <p:nvSpPr>
          <p:cNvPr id="31" name="Text 23"/>
          <p:cNvSpPr/>
          <p:nvPr/>
        </p:nvSpPr>
        <p:spPr>
          <a:xfrm>
            <a:off x="8290560" y="6397752"/>
            <a:ext cx="3291840" cy="274320"/>
          </a:xfrm>
          <a:prstGeom prst="rect">
            <a:avLst/>
          </a:prstGeom>
          <a:noFill/>
          <a:ln/>
        </p:spPr>
        <p:txBody>
          <a:bodyPr wrap="square" rtlCol="0" anchor="t"/>
          <a:lstStyle/>
          <a:p>
            <a:pPr algn="r" indent="0" marL="0">
              <a:buNone/>
            </a:pPr>
            <a:r>
              <a:rPr lang="en-US" sz="1200" dirty="0">
                <a:solidFill>
                  <a:srgbClr val="94A3B8"/>
                </a:solidFill>
                <a:latin typeface="Segoe UI" pitchFamily="34" charset="0"/>
                <a:ea typeface="Segoe UI" pitchFamily="34" charset="-122"/>
                <a:cs typeface="Segoe UI" pitchFamily="34" charset="-120"/>
              </a:rPr>
              <a:t>8 / 10</a:t>
            </a:r>
            <a:endParaRPr lang="en-US" sz="1200" dirty="0"/>
          </a:p>
        </p:txBody>
      </p:sp>
    </p:spTree>
  </p:cSld>
  <p:clrMapOvr>
    <a:masterClrMapping/>
  </p:clrMapOvr>
  <p:transition spd="med" advClick="1">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609600" y="438150"/>
            <a:ext cx="10972800" cy="320040"/>
          </a:xfrm>
          <a:prstGeom prst="rect">
            <a:avLst/>
          </a:prstGeom>
          <a:noFill/>
          <a:ln/>
        </p:spPr>
        <p:txBody>
          <a:bodyPr wrap="square" rtlCol="0" anchor="t"/>
          <a:lstStyle/>
          <a:p>
            <a:pPr algn="l" indent="0" marL="0">
              <a:buNone/>
            </a:pPr>
            <a:r>
              <a:rPr lang="en-US" sz="1200" b="1" dirty="0">
                <a:solidFill>
                  <a:srgbClr val="06B6D4"/>
                </a:solidFill>
                <a:latin typeface="Segoe UI" pitchFamily="34" charset="0"/>
                <a:ea typeface="Segoe UI" pitchFamily="34" charset="-122"/>
                <a:cs typeface="Segoe UI" pitchFamily="34" charset="-120"/>
              </a:rPr>
              <a:t>STRATEGIC DIRECTIVES FOR ENTERPRISE DECENTRALIZATION</a:t>
            </a:r>
            <a:endParaRPr lang="en-US" sz="1200" dirty="0"/>
          </a:p>
        </p:txBody>
      </p:sp>
      <p:sp>
        <p:nvSpPr>
          <p:cNvPr id="4" name="Text 1"/>
          <p:cNvSpPr/>
          <p:nvPr/>
        </p:nvSpPr>
        <p:spPr>
          <a:xfrm>
            <a:off x="609600" y="785622"/>
            <a:ext cx="10972800" cy="777240"/>
          </a:xfrm>
          <a:prstGeom prst="rect">
            <a:avLst/>
          </a:prstGeom>
          <a:noFill/>
          <a:ln/>
        </p:spPr>
        <p:txBody>
          <a:bodyPr wrap="square" rtlCol="0" anchor="t"/>
          <a:lstStyle/>
          <a:p>
            <a:pPr algn="l" indent="0" marL="0">
              <a:buNone/>
            </a:pPr>
            <a:r>
              <a:rPr lang="en-US" sz="2600" b="1" dirty="0">
                <a:solidFill>
                  <a:srgbClr val="090D16"/>
                </a:solidFill>
                <a:latin typeface="Trebuchet MS" pitchFamily="34" charset="0"/>
                <a:ea typeface="Trebuchet MS" pitchFamily="34" charset="-122"/>
                <a:cs typeface="Trebuchet MS" pitchFamily="34" charset="-120"/>
              </a:rPr>
              <a:t>Strategic Priorities for Enterprise Decentralization</a:t>
            </a:r>
            <a:endParaRPr lang="en-US" sz="2600" dirty="0"/>
          </a:p>
        </p:txBody>
      </p:sp>
      <p:sp>
        <p:nvSpPr>
          <p:cNvPr id="5" name="Text 2"/>
          <p:cNvSpPr/>
          <p:nvPr/>
        </p:nvSpPr>
        <p:spPr>
          <a:xfrm>
            <a:off x="609600" y="1636014"/>
            <a:ext cx="10972800" cy="411480"/>
          </a:xfrm>
          <a:prstGeom prst="rect">
            <a:avLst/>
          </a:prstGeom>
          <a:noFill/>
          <a:ln/>
        </p:spPr>
        <p:txBody>
          <a:bodyPr wrap="square" rtlCol="0" anchor="t"/>
          <a:lstStyle/>
          <a:p>
            <a:pPr algn="l" indent="0" marL="0">
              <a:buNone/>
            </a:pPr>
            <a:r>
              <a:rPr lang="en-US" sz="1500" dirty="0">
                <a:solidFill>
                  <a:srgbClr val="94A3B8"/>
                </a:solidFill>
                <a:latin typeface="Segoe UI" pitchFamily="34" charset="0"/>
                <a:ea typeface="Segoe UI" pitchFamily="34" charset="-122"/>
                <a:cs typeface="Segoe UI" pitchFamily="34" charset="-120"/>
              </a:rPr>
              <a:t>Key architectural principles for deploying secure, compliant, and scalable blockchain infrastructure.</a:t>
            </a:r>
            <a:endParaRPr lang="en-US" sz="1500" dirty="0"/>
          </a:p>
        </p:txBody>
      </p:sp>
      <p:sp>
        <p:nvSpPr>
          <p:cNvPr id="6" name="Shape 3"/>
          <p:cNvSpPr/>
          <p:nvPr/>
        </p:nvSpPr>
        <p:spPr>
          <a:xfrm>
            <a:off x="609600" y="2011680"/>
            <a:ext cx="5349240" cy="1851660"/>
          </a:xfrm>
          <a:prstGeom prst="roundRect">
            <a:avLst>
              <a:gd name="adj" fmla="val 6173"/>
            </a:avLst>
          </a:prstGeom>
          <a:solidFill>
            <a:srgbClr val="F8FAFC"/>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7" name="Shape 4"/>
          <p:cNvSpPr/>
          <p:nvPr/>
        </p:nvSpPr>
        <p:spPr>
          <a:xfrm>
            <a:off x="737616" y="2139696"/>
            <a:ext cx="292608" cy="292608"/>
          </a:xfrm>
          <a:prstGeom prst="ellipse">
            <a:avLst/>
          </a:prstGeom>
          <a:solidFill>
            <a:srgbClr val="0F172A"/>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3453" y="2205533"/>
            <a:ext cx="160934" cy="160934"/>
          </a:xfrm>
          <a:prstGeom prst="rect">
            <a:avLst/>
          </a:prstGeom>
        </p:spPr>
      </p:pic>
      <p:sp>
        <p:nvSpPr>
          <p:cNvPr id="9" name="Text 5"/>
          <p:cNvSpPr/>
          <p:nvPr/>
        </p:nvSpPr>
        <p:spPr>
          <a:xfrm>
            <a:off x="737616" y="2505456"/>
            <a:ext cx="5093208" cy="256032"/>
          </a:xfrm>
          <a:prstGeom prst="rect">
            <a:avLst/>
          </a:prstGeom>
          <a:noFill/>
          <a:ln/>
        </p:spPr>
        <p:txBody>
          <a:bodyPr wrap="square" rtlCol="0" anchor="t"/>
          <a:lstStyle/>
          <a:p>
            <a:pPr algn="l" indent="0" marL="0">
              <a:buNone/>
            </a:pPr>
            <a:r>
              <a:rPr lang="en-US" sz="1450" b="1" dirty="0">
                <a:solidFill>
                  <a:srgbClr val="090D16"/>
                </a:solidFill>
                <a:latin typeface="Segoe UI" pitchFamily="34" charset="0"/>
                <a:ea typeface="Segoe UI" pitchFamily="34" charset="-122"/>
                <a:cs typeface="Segoe UI" pitchFamily="34" charset="-120"/>
              </a:rPr>
              <a:t>1. Adopt Modular Layer-2 Architecture</a:t>
            </a:r>
            <a:endParaRPr lang="en-US" sz="1450" dirty="0"/>
          </a:p>
        </p:txBody>
      </p:sp>
      <p:sp>
        <p:nvSpPr>
          <p:cNvPr id="10" name="Text 6"/>
          <p:cNvSpPr/>
          <p:nvPr/>
        </p:nvSpPr>
        <p:spPr>
          <a:xfrm>
            <a:off x="737616" y="2816352"/>
            <a:ext cx="5093208" cy="918972"/>
          </a:xfrm>
          <a:prstGeom prst="rect">
            <a:avLst/>
          </a:prstGeom>
          <a:noFill/>
          <a:ln/>
        </p:spPr>
        <p:txBody>
          <a:bodyPr wrap="square" rtlCol="0" anchor="t"/>
          <a:lstStyle/>
          <a:p>
            <a:pPr algn="l" indent="0" marL="0">
              <a:buNone/>
            </a:pPr>
            <a:r>
              <a:rPr lang="en-US" sz="1100" dirty="0">
                <a:solidFill>
                  <a:srgbClr val="94A3B8"/>
                </a:solidFill>
                <a:latin typeface="Segoe UI" pitchFamily="34" charset="0"/>
                <a:ea typeface="Segoe UI" pitchFamily="34" charset="-122"/>
                <a:cs typeface="Segoe UI" pitchFamily="34" charset="-120"/>
              </a:rPr>
              <a:t>Decouple transaction execution from consensus and data availability to achieve enterprise throughput and low fees.</a:t>
            </a:r>
            <a:endParaRPr lang="en-US" sz="1100" dirty="0"/>
          </a:p>
        </p:txBody>
      </p:sp>
      <p:sp>
        <p:nvSpPr>
          <p:cNvPr id="11" name="Shape 7"/>
          <p:cNvSpPr/>
          <p:nvPr/>
        </p:nvSpPr>
        <p:spPr>
          <a:xfrm>
            <a:off x="6233160" y="2011680"/>
            <a:ext cx="5349240" cy="1851660"/>
          </a:xfrm>
          <a:prstGeom prst="roundRect">
            <a:avLst>
              <a:gd name="adj" fmla="val 6173"/>
            </a:avLst>
          </a:prstGeom>
          <a:solidFill>
            <a:srgbClr val="F8FAFC"/>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12" name="Shape 8"/>
          <p:cNvSpPr/>
          <p:nvPr/>
        </p:nvSpPr>
        <p:spPr>
          <a:xfrm>
            <a:off x="6361176" y="2139696"/>
            <a:ext cx="292608" cy="292608"/>
          </a:xfrm>
          <a:prstGeom prst="ellipse">
            <a:avLst/>
          </a:prstGeom>
          <a:solidFill>
            <a:srgbClr val="0F172A"/>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27013" y="2205533"/>
            <a:ext cx="160934" cy="160934"/>
          </a:xfrm>
          <a:prstGeom prst="rect">
            <a:avLst/>
          </a:prstGeom>
        </p:spPr>
      </p:pic>
      <p:sp>
        <p:nvSpPr>
          <p:cNvPr id="14" name="Text 9"/>
          <p:cNvSpPr/>
          <p:nvPr/>
        </p:nvSpPr>
        <p:spPr>
          <a:xfrm>
            <a:off x="6361176" y="2505456"/>
            <a:ext cx="5093208" cy="256032"/>
          </a:xfrm>
          <a:prstGeom prst="rect">
            <a:avLst/>
          </a:prstGeom>
          <a:noFill/>
          <a:ln/>
        </p:spPr>
        <p:txBody>
          <a:bodyPr wrap="square" rtlCol="0" anchor="t"/>
          <a:lstStyle/>
          <a:p>
            <a:pPr algn="l" indent="0" marL="0">
              <a:buNone/>
            </a:pPr>
            <a:r>
              <a:rPr lang="en-US" sz="1450" b="1" dirty="0">
                <a:solidFill>
                  <a:srgbClr val="090D16"/>
                </a:solidFill>
                <a:latin typeface="Segoe UI" pitchFamily="34" charset="0"/>
                <a:ea typeface="Segoe UI" pitchFamily="34" charset="-122"/>
                <a:cs typeface="Segoe UI" pitchFamily="34" charset="-120"/>
              </a:rPr>
              <a:t>2. Enforce Smart Contract Formal Verification</a:t>
            </a:r>
            <a:endParaRPr lang="en-US" sz="1450" dirty="0"/>
          </a:p>
        </p:txBody>
      </p:sp>
      <p:sp>
        <p:nvSpPr>
          <p:cNvPr id="15" name="Text 10"/>
          <p:cNvSpPr/>
          <p:nvPr/>
        </p:nvSpPr>
        <p:spPr>
          <a:xfrm>
            <a:off x="6361176" y="2816352"/>
            <a:ext cx="5093208" cy="918972"/>
          </a:xfrm>
          <a:prstGeom prst="rect">
            <a:avLst/>
          </a:prstGeom>
          <a:noFill/>
          <a:ln/>
        </p:spPr>
        <p:txBody>
          <a:bodyPr wrap="square" rtlCol="0" anchor="t"/>
          <a:lstStyle/>
          <a:p>
            <a:pPr algn="l" indent="0" marL="0">
              <a:buNone/>
            </a:pPr>
            <a:r>
              <a:rPr lang="en-US" sz="1100" dirty="0">
                <a:solidFill>
                  <a:srgbClr val="94A3B8"/>
                </a:solidFill>
                <a:latin typeface="Segoe UI" pitchFamily="34" charset="0"/>
                <a:ea typeface="Segoe UI" pitchFamily="34" charset="-122"/>
                <a:cs typeface="Segoe UI" pitchFamily="34" charset="-120"/>
              </a:rPr>
              <a:t>Subject all state-changing contract code to mathematical formal verification and third-party security audits.</a:t>
            </a:r>
            <a:endParaRPr lang="en-US" sz="1100" dirty="0"/>
          </a:p>
        </p:txBody>
      </p:sp>
      <p:sp>
        <p:nvSpPr>
          <p:cNvPr id="16" name="Shape 11"/>
          <p:cNvSpPr/>
          <p:nvPr/>
        </p:nvSpPr>
        <p:spPr>
          <a:xfrm>
            <a:off x="609600" y="4091940"/>
            <a:ext cx="5349240" cy="1851660"/>
          </a:xfrm>
          <a:prstGeom prst="roundRect">
            <a:avLst>
              <a:gd name="adj" fmla="val 6173"/>
            </a:avLst>
          </a:prstGeom>
          <a:solidFill>
            <a:srgbClr val="F8FAFC"/>
          </a:solidFill>
          <a:ln w="12700">
            <a:solidFill>
              <a:srgbClr val="1E3A5F"/>
            </a:solidFill>
            <a:prstDash val="solid"/>
          </a:ln>
          <a:effectLst>
            <a:outerShdw sx="100000" sy="100000" kx="0" ky="0" algn="bl" rotWithShape="0" blurRad="101600" dist="38100" dir="16200000">
              <a:srgbClr val="073B3A">
                <a:alpha val="10000"/>
              </a:srgbClr>
            </a:outerShdw>
          </a:effectLst>
        </p:spPr>
      </p:sp>
      <p:sp>
        <p:nvSpPr>
          <p:cNvPr id="17" name="Shape 12"/>
          <p:cNvSpPr/>
          <p:nvPr/>
        </p:nvSpPr>
        <p:spPr>
          <a:xfrm>
            <a:off x="737616" y="4219956"/>
            <a:ext cx="292608" cy="292608"/>
          </a:xfrm>
          <a:prstGeom prst="ellipse">
            <a:avLst/>
          </a:prstGeom>
          <a:solidFill>
            <a:srgbClr val="0F172A"/>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453" y="4285793"/>
            <a:ext cx="160934" cy="160934"/>
          </a:xfrm>
          <a:prstGeom prst="rect">
            <a:avLst/>
          </a:prstGeom>
        </p:spPr>
      </p:pic>
      <p:sp>
        <p:nvSpPr>
          <p:cNvPr id="19" name="Text 13"/>
          <p:cNvSpPr/>
          <p:nvPr/>
        </p:nvSpPr>
        <p:spPr>
          <a:xfrm>
            <a:off x="737616" y="4585716"/>
            <a:ext cx="5093208" cy="256032"/>
          </a:xfrm>
          <a:prstGeom prst="rect">
            <a:avLst/>
          </a:prstGeom>
          <a:noFill/>
          <a:ln/>
        </p:spPr>
        <p:txBody>
          <a:bodyPr wrap="square" rtlCol="0" anchor="t"/>
          <a:lstStyle/>
          <a:p>
            <a:pPr algn="l" indent="0" marL="0">
              <a:buNone/>
            </a:pPr>
            <a:r>
              <a:rPr lang="en-US" sz="1450" b="1" dirty="0">
                <a:solidFill>
                  <a:srgbClr val="090D16"/>
                </a:solidFill>
                <a:latin typeface="Segoe UI" pitchFamily="34" charset="0"/>
                <a:ea typeface="Segoe UI" pitchFamily="34" charset="-122"/>
                <a:cs typeface="Segoe UI" pitchFamily="34" charset="-120"/>
              </a:rPr>
              <a:t>3. Integrate Zero-Knowledge Privacy Workflows</a:t>
            </a:r>
            <a:endParaRPr lang="en-US" sz="1450" dirty="0"/>
          </a:p>
        </p:txBody>
      </p:sp>
      <p:sp>
        <p:nvSpPr>
          <p:cNvPr id="20" name="Text 14"/>
          <p:cNvSpPr/>
          <p:nvPr/>
        </p:nvSpPr>
        <p:spPr>
          <a:xfrm>
            <a:off x="737616" y="4896612"/>
            <a:ext cx="5093208" cy="918972"/>
          </a:xfrm>
          <a:prstGeom prst="rect">
            <a:avLst/>
          </a:prstGeom>
          <a:noFill/>
          <a:ln/>
        </p:spPr>
        <p:txBody>
          <a:bodyPr wrap="square" rtlCol="0" anchor="t"/>
          <a:lstStyle/>
          <a:p>
            <a:pPr algn="l" indent="0" marL="0">
              <a:buNone/>
            </a:pPr>
            <a:r>
              <a:rPr lang="en-US" sz="1100" dirty="0">
                <a:solidFill>
                  <a:srgbClr val="94A3B8"/>
                </a:solidFill>
                <a:latin typeface="Segoe UI" pitchFamily="34" charset="0"/>
                <a:ea typeface="Segoe UI" pitchFamily="34" charset="-122"/>
                <a:cs typeface="Segoe UI" pitchFamily="34" charset="-120"/>
              </a:rPr>
              <a:t>Deploy ZK-SNARKs/STARKs to verify business compliance and transaction validity without exposing confidential enterprise data.</a:t>
            </a:r>
            <a:endParaRPr lang="en-US" sz="1100" dirty="0"/>
          </a:p>
        </p:txBody>
      </p:sp>
      <p:sp>
        <p:nvSpPr>
          <p:cNvPr id="21" name="Shape 15"/>
          <p:cNvSpPr/>
          <p:nvPr/>
        </p:nvSpPr>
        <p:spPr>
          <a:xfrm>
            <a:off x="609600" y="6324600"/>
            <a:ext cx="10972800" cy="0"/>
          </a:xfrm>
          <a:prstGeom prst="line">
            <a:avLst/>
          </a:prstGeom>
          <a:noFill/>
          <a:ln w="12700">
            <a:solidFill>
              <a:srgbClr val="1E3A5F"/>
            </a:solidFill>
            <a:prstDash val="solid"/>
          </a:ln>
        </p:spPr>
      </p:sp>
      <p:sp>
        <p:nvSpPr>
          <p:cNvPr id="22" name="Text 16"/>
          <p:cNvSpPr/>
          <p:nvPr/>
        </p:nvSpPr>
        <p:spPr>
          <a:xfrm>
            <a:off x="609600" y="6397752"/>
            <a:ext cx="7680960" cy="274320"/>
          </a:xfrm>
          <a:prstGeom prst="rect">
            <a:avLst/>
          </a:prstGeom>
          <a:noFill/>
          <a:ln/>
        </p:spPr>
        <p:txBody>
          <a:bodyPr wrap="square" rtlCol="0" anchor="t"/>
          <a:lstStyle/>
          <a:p>
            <a:pPr algn="l" indent="0" marL="0">
              <a:buNone/>
            </a:pPr>
            <a:r>
              <a:rPr lang="en-US" sz="1200" dirty="0">
                <a:solidFill>
                  <a:srgbClr val="94A3B8"/>
                </a:solidFill>
                <a:latin typeface="Segoe UI" pitchFamily="34" charset="0"/>
                <a:ea typeface="Segoe UI" pitchFamily="34" charset="-122"/>
                <a:cs typeface="Segoe UI" pitchFamily="34" charset="-120"/>
              </a:rPr>
              <a:t>Strategic Priorities for Enterprise Decentralization</a:t>
            </a:r>
            <a:endParaRPr lang="en-US" sz="1200" dirty="0"/>
          </a:p>
        </p:txBody>
      </p:sp>
      <p:sp>
        <p:nvSpPr>
          <p:cNvPr id="23" name="Text 17"/>
          <p:cNvSpPr/>
          <p:nvPr/>
        </p:nvSpPr>
        <p:spPr>
          <a:xfrm>
            <a:off x="8290560" y="6397752"/>
            <a:ext cx="3291840" cy="274320"/>
          </a:xfrm>
          <a:prstGeom prst="rect">
            <a:avLst/>
          </a:prstGeom>
          <a:noFill/>
          <a:ln/>
        </p:spPr>
        <p:txBody>
          <a:bodyPr wrap="square" rtlCol="0" anchor="t"/>
          <a:lstStyle/>
          <a:p>
            <a:pPr algn="r" indent="0" marL="0">
              <a:buNone/>
            </a:pPr>
            <a:r>
              <a:rPr lang="en-US" sz="1200" dirty="0">
                <a:solidFill>
                  <a:srgbClr val="94A3B8"/>
                </a:solidFill>
                <a:latin typeface="Segoe UI" pitchFamily="34" charset="0"/>
                <a:ea typeface="Segoe UI" pitchFamily="34" charset="-122"/>
                <a:cs typeface="Segoe UI" pitchFamily="34" charset="-120"/>
              </a:rPr>
              <a:t>9 / 10</a:t>
            </a:r>
            <a:endParaRPr lang="en-US" sz="1200" dirty="0"/>
          </a:p>
        </p:txBody>
      </p:sp>
    </p:spTree>
  </p:cSld>
  <p:clrMapOvr>
    <a:masterClrMapping/>
  </p:clrMapOvr>
  <p:transition spd="med" advClick="1">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90E"/>
        </a:solidFill>
      </p:bgPr>
    </p:bg>
    <p:spTree>
      <p:nvGrpSpPr>
        <p:cNvPr id="1" name=""/>
        <p:cNvGrpSpPr/>
        <p:nvPr/>
      </p:nvGrpSpPr>
      <p:grpSpPr>
        <a:xfrm>
          <a:off x="0" y="0"/>
          <a:ext cx="0" cy="0"/>
          <a:chOff x="0" y="0"/>
          <a:chExt cx="0" cy="0"/>
        </a:xfrm>
      </p:grpSpPr>
      <p:sp>
        <p:nvSpPr>
          <p:cNvPr id="3" name="Text 0"/>
          <p:cNvSpPr/>
          <p:nvPr/>
        </p:nvSpPr>
        <p:spPr>
          <a:xfrm>
            <a:off x="609600" y="777240"/>
            <a:ext cx="10972800" cy="320040"/>
          </a:xfrm>
          <a:prstGeom prst="rect">
            <a:avLst/>
          </a:prstGeom>
          <a:noFill/>
          <a:ln/>
        </p:spPr>
        <p:txBody>
          <a:bodyPr wrap="square" rtlCol="0" anchor="t"/>
          <a:lstStyle/>
          <a:p>
            <a:pPr algn="l" indent="0" marL="0">
              <a:buNone/>
            </a:pPr>
            <a:r>
              <a:rPr lang="en-US" sz="1400" b="1" dirty="0">
                <a:solidFill>
                  <a:srgbClr val="10B981"/>
                </a:solidFill>
                <a:latin typeface="Segoe UI" pitchFamily="34" charset="0"/>
                <a:ea typeface="Segoe UI" pitchFamily="34" charset="-122"/>
                <a:cs typeface="Segoe UI" pitchFamily="34" charset="-120"/>
              </a:rPr>
              <a:t>ARCHITECTING TRUST IN THE DECENTRALIZED WEB</a:t>
            </a:r>
            <a:endParaRPr lang="en-US" sz="1400" dirty="0"/>
          </a:p>
        </p:txBody>
      </p:sp>
      <p:sp>
        <p:nvSpPr>
          <p:cNvPr id="4" name="Text 1"/>
          <p:cNvSpPr/>
          <p:nvPr/>
        </p:nvSpPr>
        <p:spPr>
          <a:xfrm>
            <a:off x="609600" y="1124712"/>
            <a:ext cx="10972800" cy="685800"/>
          </a:xfrm>
          <a:prstGeom prst="rect">
            <a:avLst/>
          </a:prstGeom>
          <a:noFill/>
          <a:ln/>
        </p:spPr>
        <p:txBody>
          <a:bodyPr wrap="square" rtlCol="0" anchor="t"/>
          <a:lstStyle/>
          <a:p>
            <a:pPr algn="l" indent="0" marL="0">
              <a:buNone/>
            </a:pPr>
            <a:r>
              <a:rPr lang="en-US" sz="2800" b="1" dirty="0">
                <a:solidFill>
                  <a:srgbClr val="F8FAFC"/>
                </a:solidFill>
                <a:latin typeface="Trebuchet MS" pitchFamily="34" charset="0"/>
                <a:ea typeface="Trebuchet MS" pitchFamily="34" charset="-122"/>
                <a:cs typeface="Trebuchet MS" pitchFamily="34" charset="-120"/>
              </a:rPr>
              <a:t>Architecting Trust in the Decentralized Web</a:t>
            </a:r>
            <a:endParaRPr lang="en-US" sz="2800" dirty="0"/>
          </a:p>
        </p:txBody>
      </p:sp>
      <p:sp>
        <p:nvSpPr>
          <p:cNvPr id="5" name="Shape 2"/>
          <p:cNvSpPr/>
          <p:nvPr/>
        </p:nvSpPr>
        <p:spPr>
          <a:xfrm>
            <a:off x="609600" y="2039112"/>
            <a:ext cx="10972800" cy="2011680"/>
          </a:xfrm>
          <a:prstGeom prst="roundRect">
            <a:avLst>
              <a:gd name="adj" fmla="val 5682"/>
            </a:avLst>
          </a:prstGeom>
          <a:solidFill>
            <a:srgbClr val="1E293B"/>
          </a:solidFill>
          <a:ln w="12700">
            <a:solidFill>
              <a:srgbClr val="06B6D4"/>
            </a:solidFill>
            <a:prstDash val="solid"/>
          </a:ln>
        </p:spPr>
      </p:sp>
      <p:sp>
        <p:nvSpPr>
          <p:cNvPr id="6" name="Shape 3"/>
          <p:cNvSpPr/>
          <p:nvPr/>
        </p:nvSpPr>
        <p:spPr>
          <a:xfrm>
            <a:off x="737616" y="2167128"/>
            <a:ext cx="292608" cy="292608"/>
          </a:xfrm>
          <a:prstGeom prst="ellipse">
            <a:avLst/>
          </a:prstGeom>
          <a:solidFill>
            <a:srgbClr val="1E293B"/>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3453" y="2232965"/>
            <a:ext cx="160934" cy="160934"/>
          </a:xfrm>
          <a:prstGeom prst="rect">
            <a:avLst/>
          </a:prstGeom>
        </p:spPr>
      </p:pic>
      <p:sp>
        <p:nvSpPr>
          <p:cNvPr id="8" name="Text 4"/>
          <p:cNvSpPr/>
          <p:nvPr/>
        </p:nvSpPr>
        <p:spPr>
          <a:xfrm>
            <a:off x="737616" y="2532888"/>
            <a:ext cx="10716768" cy="256032"/>
          </a:xfrm>
          <a:prstGeom prst="rect">
            <a:avLst/>
          </a:prstGeom>
          <a:noFill/>
          <a:ln/>
        </p:spPr>
        <p:txBody>
          <a:bodyPr wrap="square" rtlCol="0" anchor="t"/>
          <a:lstStyle/>
          <a:p>
            <a:pPr algn="l" indent="0" marL="0">
              <a:buNone/>
            </a:pPr>
            <a:r>
              <a:rPr lang="en-US" sz="1450" b="1" dirty="0">
                <a:solidFill>
                  <a:srgbClr val="F8FAFC"/>
                </a:solidFill>
                <a:latin typeface="Segoe UI" pitchFamily="34" charset="0"/>
                <a:ea typeface="Segoe UI" pitchFamily="34" charset="-122"/>
                <a:cs typeface="Segoe UI" pitchFamily="34" charset="-120"/>
              </a:rPr>
              <a:t>Synthesis</a:t>
            </a:r>
            <a:endParaRPr lang="en-US" sz="1450" dirty="0"/>
          </a:p>
        </p:txBody>
      </p:sp>
      <p:sp>
        <p:nvSpPr>
          <p:cNvPr id="9" name="Text 5"/>
          <p:cNvSpPr/>
          <p:nvPr/>
        </p:nvSpPr>
        <p:spPr>
          <a:xfrm>
            <a:off x="737616" y="2843784"/>
            <a:ext cx="10716768" cy="1078992"/>
          </a:xfrm>
          <a:prstGeom prst="rect">
            <a:avLst/>
          </a:prstGeom>
          <a:noFill/>
          <a:ln/>
        </p:spPr>
        <p:txBody>
          <a:bodyPr wrap="square" rtlCol="0" anchor="t"/>
          <a:lstStyle/>
          <a:p>
            <a:pPr algn="l" indent="0" marL="0">
              <a:buNone/>
            </a:pPr>
            <a:r>
              <a:rPr lang="en-US" sz="1100" dirty="0">
                <a:solidFill>
                  <a:srgbClr val="1E3A5F"/>
                </a:solidFill>
                <a:latin typeface="Segoe UI" pitchFamily="34" charset="0"/>
                <a:ea typeface="Segoe UI" pitchFamily="34" charset="-122"/>
                <a:cs typeface="Segoe UI" pitchFamily="34" charset="-120"/>
              </a:rPr>
              <a:t>Blockchain technology redefines institutional trust through cryptographic mathematics, distributed consensus, and verifiable code execution, establishing an open foundation for modern digital infrastructure.</a:t>
            </a:r>
            <a:endParaRPr lang="en-US" sz="1100" dirty="0"/>
          </a:p>
        </p:txBody>
      </p:sp>
      <p:sp>
        <p:nvSpPr>
          <p:cNvPr id="10" name="Text 6"/>
          <p:cNvSpPr/>
          <p:nvPr/>
        </p:nvSpPr>
        <p:spPr>
          <a:xfrm>
            <a:off x="609600" y="4233672"/>
            <a:ext cx="10972800" cy="530352"/>
          </a:xfrm>
          <a:prstGeom prst="rect">
            <a:avLst/>
          </a:prstGeom>
          <a:solidFill>
            <a:srgbClr val="090D16"/>
          </a:solidFill>
          <a:ln w="12700">
            <a:solidFill>
              <a:srgbClr val="06B6D4"/>
            </a:solidFill>
          </a:ln>
        </p:spPr>
        <p:txBody>
          <a:bodyPr wrap="square" lIns="127000" tIns="127000" rIns="127000" bIns="127000" rtlCol="0" anchor="ctr"/>
          <a:lstStyle/>
          <a:p>
            <a:pPr algn="l" indent="0" marL="0">
              <a:buNone/>
            </a:pPr>
            <a:r>
              <a:rPr lang="en-US" sz="1400" b="1" dirty="0">
                <a:solidFill>
                  <a:srgbClr val="064E3B"/>
                </a:solidFill>
                <a:latin typeface="Segoe UI" pitchFamily="34" charset="0"/>
                <a:ea typeface="Segoe UI" pitchFamily="34" charset="-122"/>
                <a:cs typeface="Segoe UI" pitchFamily="34" charset="-120"/>
              </a:rPr>
              <a:t>NEXT ACTION: BUILD RESILIENT, VERIFIABLE, AND DECENTRALIZED PROTOCOLS FOR THE FUTURE OF COMPUTATION.</a:t>
            </a:r>
            <a:endParaRPr lang="en-US" sz="1400" dirty="0"/>
          </a:p>
        </p:txBody>
      </p:sp>
      <p:sp>
        <p:nvSpPr>
          <p:cNvPr id="11" name="Shape 7"/>
          <p:cNvSpPr/>
          <p:nvPr/>
        </p:nvSpPr>
        <p:spPr>
          <a:xfrm>
            <a:off x="609600" y="6324600"/>
            <a:ext cx="10972800" cy="0"/>
          </a:xfrm>
          <a:prstGeom prst="line">
            <a:avLst/>
          </a:prstGeom>
          <a:noFill/>
          <a:ln w="12700">
            <a:solidFill>
              <a:srgbClr val="1E293B"/>
            </a:solidFill>
            <a:prstDash val="solid"/>
          </a:ln>
        </p:spPr>
      </p:sp>
      <p:sp>
        <p:nvSpPr>
          <p:cNvPr id="12" name="Text 8"/>
          <p:cNvSpPr/>
          <p:nvPr/>
        </p:nvSpPr>
        <p:spPr>
          <a:xfrm>
            <a:off x="609600" y="6397752"/>
            <a:ext cx="7680960" cy="274320"/>
          </a:xfrm>
          <a:prstGeom prst="rect">
            <a:avLst/>
          </a:prstGeom>
          <a:noFill/>
          <a:ln/>
        </p:spPr>
        <p:txBody>
          <a:bodyPr wrap="square" rtlCol="0" anchor="t"/>
          <a:lstStyle/>
          <a:p>
            <a:pPr algn="l" indent="0" marL="0">
              <a:buNone/>
            </a:pPr>
            <a:r>
              <a:rPr lang="en-US" sz="1200" dirty="0">
                <a:solidFill>
                  <a:srgbClr val="1E3A5F"/>
                </a:solidFill>
                <a:latin typeface="Segoe UI" pitchFamily="34" charset="0"/>
                <a:ea typeface="Segoe UI" pitchFamily="34" charset="-122"/>
                <a:cs typeface="Segoe UI" pitchFamily="34" charset="-120"/>
              </a:rPr>
              <a:t>Architecting Trust in the Decentralized Web</a:t>
            </a:r>
            <a:endParaRPr lang="en-US" sz="1200" dirty="0"/>
          </a:p>
        </p:txBody>
      </p:sp>
      <p:sp>
        <p:nvSpPr>
          <p:cNvPr id="13" name="Text 9"/>
          <p:cNvSpPr/>
          <p:nvPr/>
        </p:nvSpPr>
        <p:spPr>
          <a:xfrm>
            <a:off x="8290560" y="6397752"/>
            <a:ext cx="3291840" cy="274320"/>
          </a:xfrm>
          <a:prstGeom prst="rect">
            <a:avLst/>
          </a:prstGeom>
          <a:noFill/>
          <a:ln/>
        </p:spPr>
        <p:txBody>
          <a:bodyPr wrap="square" rtlCol="0" anchor="t"/>
          <a:lstStyle/>
          <a:p>
            <a:pPr algn="r" indent="0" marL="0">
              <a:buNone/>
            </a:pPr>
            <a:r>
              <a:rPr lang="en-US" sz="1200" dirty="0">
                <a:solidFill>
                  <a:srgbClr val="1E3A5F"/>
                </a:solidFill>
                <a:latin typeface="Segoe UI" pitchFamily="34" charset="0"/>
                <a:ea typeface="Segoe UI" pitchFamily="34" charset="-122"/>
                <a:cs typeface="Segoe UI" pitchFamily="34" charset="-120"/>
              </a:rPr>
              <a:t>10 / 10</a:t>
            </a:r>
            <a:endParaRPr lang="en-US" sz="1200" dirty="0"/>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 Technology</dc:title>
  <dc:subject>PptxGenJS Presentation</dc:subject>
  <dc:creator>National Academic &amp; Strategic Research Institute</dc:creator>
  <cp:lastModifiedBy>National Academic &amp; Strategic Research Institute</cp:lastModifiedBy>
  <cp:revision>1</cp:revision>
  <dcterms:created xsi:type="dcterms:W3CDTF">2026-08-14T18:43:02Z</dcterms:created>
  <dcterms:modified xsi:type="dcterms:W3CDTF">2026-08-14T18:43:02Z</dcterms:modified>
</cp:coreProperties>
</file>